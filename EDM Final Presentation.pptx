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497" r:id="rId3"/>
    <p:sldId id="514" r:id="rId4"/>
    <p:sldId id="500" r:id="rId5"/>
    <p:sldId id="501" r:id="rId6"/>
    <p:sldId id="512" r:id="rId7"/>
    <p:sldId id="513" r:id="rId8"/>
    <p:sldId id="505" r:id="rId9"/>
    <p:sldId id="508" r:id="rId10"/>
    <p:sldId id="507" r:id="rId11"/>
    <p:sldId id="504" r:id="rId12"/>
    <p:sldId id="502" r:id="rId13"/>
    <p:sldId id="506" r:id="rId14"/>
    <p:sldId id="269" r:id="rId15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1E24"/>
    <a:srgbClr val="0060AA"/>
    <a:srgbClr val="0066B3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99" autoAdjust="0"/>
    <p:restoredTop sz="89281" autoAdjust="0"/>
  </p:normalViewPr>
  <p:slideViewPr>
    <p:cSldViewPr>
      <p:cViewPr varScale="1">
        <p:scale>
          <a:sx n="73" d="100"/>
          <a:sy n="73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i Rawat" userId="ec55ae27f4c6f109" providerId="LiveId" clId="{5C74C739-DA85-4CE8-AF6F-75F6CBF46A53}"/>
    <pc:docChg chg="modSld">
      <pc:chgData name="Mansi Rawat" userId="ec55ae27f4c6f109" providerId="LiveId" clId="{5C74C739-DA85-4CE8-AF6F-75F6CBF46A53}" dt="2026-04-08T03:24:25.803" v="0" actId="14100"/>
      <pc:docMkLst>
        <pc:docMk/>
      </pc:docMkLst>
      <pc:sldChg chg="modSp mod">
        <pc:chgData name="Mansi Rawat" userId="ec55ae27f4c6f109" providerId="LiveId" clId="{5C74C739-DA85-4CE8-AF6F-75F6CBF46A53}" dt="2026-04-08T03:24:25.803" v="0" actId="14100"/>
        <pc:sldMkLst>
          <pc:docMk/>
          <pc:sldMk cId="3449068858" sldId="504"/>
        </pc:sldMkLst>
        <pc:picChg chg="mod">
          <ac:chgData name="Mansi Rawat" userId="ec55ae27f4c6f109" providerId="LiveId" clId="{5C74C739-DA85-4CE8-AF6F-75F6CBF46A53}" dt="2026-04-08T03:24:25.803" v="0" actId="14100"/>
          <ac:picMkLst>
            <pc:docMk/>
            <pc:sldMk cId="3449068858" sldId="504"/>
            <ac:picMk id="27" creationId="{BBD41DFD-3BBA-79BF-2393-A43170548AD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27024-9D36-96CE-B416-FC1997261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FBFB6-100E-CF26-9115-F699DD927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595AE-5574-9C07-277D-DE375AF8E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B69A9-B7C2-9DFF-E86F-08F844D14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013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4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2.png"/><Relationship Id="rId7" Type="http://schemas.openxmlformats.org/officeDocument/2006/relationships/image" Target="../media/image150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2.png"/><Relationship Id="rId5" Type="http://schemas.openxmlformats.org/officeDocument/2006/relationships/customXml" Target="../ink/ink1.xml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4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2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4.png"/><Relationship Id="rId9" Type="http://schemas.openxmlformats.org/officeDocument/2006/relationships/image" Target="../media/image8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2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4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2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4.png"/><Relationship Id="rId9" Type="http://schemas.openxmlformats.org/officeDocument/2006/relationships/image" Target="../media/image10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615671"/>
              </p:ext>
            </p:extLst>
          </p:nvPr>
        </p:nvGraphicFramePr>
        <p:xfrm>
          <a:off x="1670447" y="3505366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2301840009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Mansi Rawat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2301840005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Sahil </a:t>
                      </a:r>
                      <a:r>
                        <a:rPr lang="en-US" dirty="0" err="1"/>
                        <a:t>Parasar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414310" y="1372508"/>
            <a:ext cx="66082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28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Early Student Performance Prediction Using Educational Data Mining</a:t>
            </a:r>
          </a:p>
          <a:p>
            <a:pPr lvl="0" algn="ctr">
              <a:buSzPct val="25000"/>
            </a:pPr>
            <a:endParaRPr lang="en-IN" sz="28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 Dr. Meenu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FF40A-23E7-6EEA-501C-411B325D6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2150A0-54E9-E03B-E0F9-0E7CAF2FF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4E27CD1-A51E-993A-A7F9-D01A94D54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7300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6FD38E-91EC-963C-3AFD-8F217A5C64E8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2AD06E7-804E-AEA0-51D0-625E206B20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EDFF0E6-33EC-658E-660D-2C9BB0606CB0}"/>
              </a:ext>
            </a:extLst>
          </p:cNvPr>
          <p:cNvGrpSpPr/>
          <p:nvPr/>
        </p:nvGrpSpPr>
        <p:grpSpPr>
          <a:xfrm>
            <a:off x="0" y="1124744"/>
            <a:ext cx="9144000" cy="5328592"/>
            <a:chOff x="-95250" y="247300"/>
            <a:chExt cx="11847606" cy="6801199"/>
          </a:xfrm>
        </p:grpSpPr>
        <p:pic>
          <p:nvPicPr>
            <p:cNvPr id="19" name="Image 2" descr="preencoded.png">
              <a:extLst>
                <a:ext uri="{FF2B5EF4-FFF2-40B4-BE49-F238E27FC236}">
                  <a16:creationId xmlns:a16="http://schemas.microsoft.com/office/drawing/2014/main" id="{D895A4CC-8379-8D3B-D2C9-FFE850609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247300"/>
              <a:ext cx="11752356" cy="66107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BA96B29-1B73-1995-4E49-7C5880100ADE}"/>
                </a:ext>
              </a:extLst>
            </p:cNvPr>
            <p:cNvGrpSpPr/>
            <p:nvPr/>
          </p:nvGrpSpPr>
          <p:grpSpPr>
            <a:xfrm>
              <a:off x="-95250" y="1412776"/>
              <a:ext cx="11615018" cy="5635723"/>
              <a:chOff x="-95250" y="1138300"/>
              <a:chExt cx="11615018" cy="5635723"/>
            </a:xfrm>
          </p:grpSpPr>
          <p:pic>
            <p:nvPicPr>
              <p:cNvPr id="21" name="Image 3" descr="preencoded.png">
                <a:extLst>
                  <a:ext uri="{FF2B5EF4-FFF2-40B4-BE49-F238E27FC236}">
                    <a16:creationId xmlns:a16="http://schemas.microsoft.com/office/drawing/2014/main" id="{0DBB45EB-D279-5063-F6AA-3578603E98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 amt="30000"/>
              </a:blip>
              <a:stretch>
                <a:fillRect/>
              </a:stretch>
            </p:blipFill>
            <p:spPr>
              <a:xfrm>
                <a:off x="-95250" y="1138300"/>
                <a:ext cx="10019063" cy="5635723"/>
              </a:xfrm>
              <a:prstGeom prst="rect">
                <a:avLst/>
              </a:prstGeom>
            </p:spPr>
          </p:pic>
          <p:sp>
            <p:nvSpPr>
              <p:cNvPr id="22" name="Text 3">
                <a:extLst>
                  <a:ext uri="{FF2B5EF4-FFF2-40B4-BE49-F238E27FC236}">
                    <a16:creationId xmlns:a16="http://schemas.microsoft.com/office/drawing/2014/main" id="{A3054BF5-10A6-C693-5B4F-267E30D16DF0}"/>
                  </a:ext>
                </a:extLst>
              </p:cNvPr>
              <p:cNvSpPr/>
              <p:nvPr/>
            </p:nvSpPr>
            <p:spPr>
              <a:xfrm>
                <a:off x="761999" y="1544967"/>
                <a:ext cx="10757769" cy="25553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4800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Early Student Performance Prediction Using Educational Data Mining</a:t>
                </a:r>
                <a:endParaRPr lang="en-US" sz="4800" dirty="0"/>
              </a:p>
            </p:txBody>
          </p:sp>
          <p:pic>
            <p:nvPicPr>
              <p:cNvPr id="23" name="Image 5" descr="preencoded.png">
                <a:extLst>
                  <a:ext uri="{FF2B5EF4-FFF2-40B4-BE49-F238E27FC236}">
                    <a16:creationId xmlns:a16="http://schemas.microsoft.com/office/drawing/2014/main" id="{0C9E7163-D79D-CF5D-4B2E-1F4B2D6F12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2475" y="4391025"/>
                <a:ext cx="8591550" cy="885825"/>
              </a:xfrm>
              <a:prstGeom prst="rect">
                <a:avLst/>
              </a:prstGeom>
            </p:spPr>
          </p:pic>
          <p:sp>
            <p:nvSpPr>
              <p:cNvPr id="24" name="Text 4">
                <a:extLst>
                  <a:ext uri="{FF2B5EF4-FFF2-40B4-BE49-F238E27FC236}">
                    <a16:creationId xmlns:a16="http://schemas.microsoft.com/office/drawing/2014/main" id="{524A524B-B393-143D-FE83-36C9CBDC7A4D}"/>
                  </a:ext>
                </a:extLst>
              </p:cNvPr>
              <p:cNvSpPr/>
              <p:nvPr/>
            </p:nvSpPr>
            <p:spPr>
              <a:xfrm>
                <a:off x="990600" y="4405164"/>
                <a:ext cx="8343900" cy="8533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80E0D0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An Actionable Early-Warning System with Six-Class Grading</a:t>
                </a:r>
                <a:endParaRPr lang="en-US" sz="2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5406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65B98B-D506-6912-A816-AD556D8A13AF}"/>
              </a:ext>
            </a:extLst>
          </p:cNvPr>
          <p:cNvGrpSpPr/>
          <p:nvPr/>
        </p:nvGrpSpPr>
        <p:grpSpPr>
          <a:xfrm>
            <a:off x="5814652" y="1324066"/>
            <a:ext cx="3155188" cy="5089989"/>
            <a:chOff x="7419974" y="1200150"/>
            <a:chExt cx="2752725" cy="4667250"/>
          </a:xfrm>
        </p:grpSpPr>
        <p:pic>
          <p:nvPicPr>
            <p:cNvPr id="27" name="Image 16" descr="preencoded.png">
              <a:extLst>
                <a:ext uri="{FF2B5EF4-FFF2-40B4-BE49-F238E27FC236}">
                  <a16:creationId xmlns:a16="http://schemas.microsoft.com/office/drawing/2014/main" id="{2C5A58F5-2439-BC46-981E-99B946448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15375" y="3209925"/>
              <a:ext cx="161925" cy="200025"/>
            </a:xfrm>
            <a:prstGeom prst="rect">
              <a:avLst/>
            </a:prstGeom>
          </p:spPr>
        </p:pic>
        <p:pic>
          <p:nvPicPr>
            <p:cNvPr id="28" name="Image 20" descr="preencoded.png">
              <a:extLst>
                <a:ext uri="{FF2B5EF4-FFF2-40B4-BE49-F238E27FC236}">
                  <a16:creationId xmlns:a16="http://schemas.microsoft.com/office/drawing/2014/main" id="{596999E4-E7B4-DFFD-B827-BBA483153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15375" y="4543425"/>
              <a:ext cx="161925" cy="200025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AC869C1-0E9A-F110-F49F-7A46C5B3D1CF}"/>
                </a:ext>
              </a:extLst>
            </p:cNvPr>
            <p:cNvGrpSpPr/>
            <p:nvPr/>
          </p:nvGrpSpPr>
          <p:grpSpPr>
            <a:xfrm>
              <a:off x="7419974" y="1200150"/>
              <a:ext cx="2752725" cy="4667250"/>
              <a:chOff x="7419975" y="1200150"/>
              <a:chExt cx="2752725" cy="4667250"/>
            </a:xfrm>
          </p:grpSpPr>
          <p:pic>
            <p:nvPicPr>
              <p:cNvPr id="30" name="Image 11" descr="preencoded.png">
                <a:extLst>
                  <a:ext uri="{FF2B5EF4-FFF2-40B4-BE49-F238E27FC236}">
                    <a16:creationId xmlns:a16="http://schemas.microsoft.com/office/drawing/2014/main" id="{F856DBE2-70DD-E6A9-47C4-4D4046EB2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19975" y="1200150"/>
                <a:ext cx="2752725" cy="666750"/>
              </a:xfrm>
              <a:prstGeom prst="rect">
                <a:avLst/>
              </a:prstGeom>
            </p:spPr>
          </p:pic>
          <p:sp>
            <p:nvSpPr>
              <p:cNvPr id="31" name="Text 10">
                <a:extLst>
                  <a:ext uri="{FF2B5EF4-FFF2-40B4-BE49-F238E27FC236}">
                    <a16:creationId xmlns:a16="http://schemas.microsoft.com/office/drawing/2014/main" id="{DED81E0B-B6DF-2CD6-3852-61548E0E99DD}"/>
                  </a:ext>
                </a:extLst>
              </p:cNvPr>
              <p:cNvSpPr/>
              <p:nvPr/>
            </p:nvSpPr>
            <p:spPr>
              <a:xfrm>
                <a:off x="7613303" y="1281113"/>
                <a:ext cx="2362200" cy="4953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002FA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Input Data (Demographics + Behavior)</a:t>
                </a:r>
                <a:endParaRPr lang="en-US" sz="900" dirty="0"/>
              </a:p>
            </p:txBody>
          </p:sp>
          <p:pic>
            <p:nvPicPr>
              <p:cNvPr id="32" name="Image 12" descr="preencoded.png">
                <a:extLst>
                  <a:ext uri="{FF2B5EF4-FFF2-40B4-BE49-F238E27FC236}">
                    <a16:creationId xmlns:a16="http://schemas.microsoft.com/office/drawing/2014/main" id="{65E1F766-8FF3-7B50-8DDD-C452F17253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5375" y="1876425"/>
                <a:ext cx="161925" cy="200025"/>
              </a:xfrm>
              <a:prstGeom prst="rect">
                <a:avLst/>
              </a:prstGeom>
            </p:spPr>
          </p:pic>
          <p:pic>
            <p:nvPicPr>
              <p:cNvPr id="33" name="Image 13" descr="preencoded.png">
                <a:extLst>
                  <a:ext uri="{FF2B5EF4-FFF2-40B4-BE49-F238E27FC236}">
                    <a16:creationId xmlns:a16="http://schemas.microsoft.com/office/drawing/2014/main" id="{170103FB-FBD1-E6D0-96F8-04B39B4200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19975" y="2095500"/>
                <a:ext cx="2752725" cy="438150"/>
              </a:xfrm>
              <a:prstGeom prst="rect">
                <a:avLst/>
              </a:prstGeom>
            </p:spPr>
          </p:pic>
          <p:sp>
            <p:nvSpPr>
              <p:cNvPr id="34" name="Text 11">
                <a:extLst>
                  <a:ext uri="{FF2B5EF4-FFF2-40B4-BE49-F238E27FC236}">
                    <a16:creationId xmlns:a16="http://schemas.microsoft.com/office/drawing/2014/main" id="{7694B611-E36D-E313-8C89-0B84986B017B}"/>
                  </a:ext>
                </a:extLst>
              </p:cNvPr>
              <p:cNvSpPr/>
              <p:nvPr/>
            </p:nvSpPr>
            <p:spPr>
              <a:xfrm>
                <a:off x="7613303" y="2176463"/>
                <a:ext cx="23622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Feature Engineering</a:t>
                </a:r>
                <a:endParaRPr lang="en-US" sz="900" dirty="0"/>
              </a:p>
            </p:txBody>
          </p:sp>
          <p:pic>
            <p:nvPicPr>
              <p:cNvPr id="35" name="Image 14" descr="preencoded.png">
                <a:extLst>
                  <a:ext uri="{FF2B5EF4-FFF2-40B4-BE49-F238E27FC236}">
                    <a16:creationId xmlns:a16="http://schemas.microsoft.com/office/drawing/2014/main" id="{689E5A6B-3CE4-70B8-039A-A38096FB6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5375" y="2543175"/>
                <a:ext cx="161925" cy="200025"/>
              </a:xfrm>
              <a:prstGeom prst="rect">
                <a:avLst/>
              </a:prstGeom>
            </p:spPr>
          </p:pic>
          <p:pic>
            <p:nvPicPr>
              <p:cNvPr id="36" name="Image 15" descr="preencoded.png">
                <a:extLst>
                  <a:ext uri="{FF2B5EF4-FFF2-40B4-BE49-F238E27FC236}">
                    <a16:creationId xmlns:a16="http://schemas.microsoft.com/office/drawing/2014/main" id="{A2CD36FD-B699-5644-CCF7-38CE3E2D1C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19975" y="2762250"/>
                <a:ext cx="2752725" cy="438150"/>
              </a:xfrm>
              <a:prstGeom prst="rect">
                <a:avLst/>
              </a:prstGeom>
            </p:spPr>
          </p:pic>
          <p:sp>
            <p:nvSpPr>
              <p:cNvPr id="37" name="Text 12">
                <a:extLst>
                  <a:ext uri="{FF2B5EF4-FFF2-40B4-BE49-F238E27FC236}">
                    <a16:creationId xmlns:a16="http://schemas.microsoft.com/office/drawing/2014/main" id="{653A1EFE-383A-9CDE-EAAE-A47EEC088EBA}"/>
                  </a:ext>
                </a:extLst>
              </p:cNvPr>
              <p:cNvSpPr/>
              <p:nvPr/>
            </p:nvSpPr>
            <p:spPr>
              <a:xfrm>
                <a:off x="7613303" y="2843213"/>
                <a:ext cx="23622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Clustering</a:t>
                </a:r>
                <a:endParaRPr lang="en-US" sz="900" dirty="0"/>
              </a:p>
            </p:txBody>
          </p:sp>
          <p:pic>
            <p:nvPicPr>
              <p:cNvPr id="38" name="Image 17" descr="preencoded.png">
                <a:extLst>
                  <a:ext uri="{FF2B5EF4-FFF2-40B4-BE49-F238E27FC236}">
                    <a16:creationId xmlns:a16="http://schemas.microsoft.com/office/drawing/2014/main" id="{B61D03B1-0C53-6B4D-34D6-E3CAFFBDCD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19975" y="3429000"/>
                <a:ext cx="2752725" cy="438150"/>
              </a:xfrm>
              <a:prstGeom prst="rect">
                <a:avLst/>
              </a:prstGeom>
            </p:spPr>
          </p:pic>
          <p:sp>
            <p:nvSpPr>
              <p:cNvPr id="39" name="Text 13">
                <a:extLst>
                  <a:ext uri="{FF2B5EF4-FFF2-40B4-BE49-F238E27FC236}">
                    <a16:creationId xmlns:a16="http://schemas.microsoft.com/office/drawing/2014/main" id="{74383B06-2B1A-48D6-655E-92DC9DADA531}"/>
                  </a:ext>
                </a:extLst>
              </p:cNvPr>
              <p:cNvSpPr/>
              <p:nvPr/>
            </p:nvSpPr>
            <p:spPr>
              <a:xfrm>
                <a:off x="7613303" y="3509963"/>
                <a:ext cx="23622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Ensemble Models</a:t>
                </a:r>
                <a:endParaRPr lang="en-US" sz="900" dirty="0"/>
              </a:p>
            </p:txBody>
          </p:sp>
          <p:pic>
            <p:nvPicPr>
              <p:cNvPr id="40" name="Image 18" descr="preencoded.png">
                <a:extLst>
                  <a:ext uri="{FF2B5EF4-FFF2-40B4-BE49-F238E27FC236}">
                    <a16:creationId xmlns:a16="http://schemas.microsoft.com/office/drawing/2014/main" id="{78584EB3-FE2F-0CE7-78B6-E040FDA6CE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5375" y="3876675"/>
                <a:ext cx="161925" cy="200025"/>
              </a:xfrm>
              <a:prstGeom prst="rect">
                <a:avLst/>
              </a:prstGeom>
            </p:spPr>
          </p:pic>
          <p:pic>
            <p:nvPicPr>
              <p:cNvPr id="41" name="Image 19" descr="preencoded.png">
                <a:extLst>
                  <a:ext uri="{FF2B5EF4-FFF2-40B4-BE49-F238E27FC236}">
                    <a16:creationId xmlns:a16="http://schemas.microsoft.com/office/drawing/2014/main" id="{114207DF-5880-F6AD-C494-CA61A3BE30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19975" y="4095750"/>
                <a:ext cx="2752725" cy="438150"/>
              </a:xfrm>
              <a:prstGeom prst="rect">
                <a:avLst/>
              </a:prstGeom>
            </p:spPr>
          </p:pic>
          <p:sp>
            <p:nvSpPr>
              <p:cNvPr id="42" name="Text 14">
                <a:extLst>
                  <a:ext uri="{FF2B5EF4-FFF2-40B4-BE49-F238E27FC236}">
                    <a16:creationId xmlns:a16="http://schemas.microsoft.com/office/drawing/2014/main" id="{7EE8AABA-E6F8-51E0-F996-8DD4F2593F36}"/>
                  </a:ext>
                </a:extLst>
              </p:cNvPr>
              <p:cNvSpPr/>
              <p:nvPr/>
            </p:nvSpPr>
            <p:spPr>
              <a:xfrm>
                <a:off x="7613303" y="4176712"/>
                <a:ext cx="23622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Hybrid Classifier</a:t>
                </a:r>
                <a:endParaRPr lang="en-US" sz="900" dirty="0"/>
              </a:p>
            </p:txBody>
          </p:sp>
          <p:pic>
            <p:nvPicPr>
              <p:cNvPr id="43" name="Image 21" descr="preencoded.png">
                <a:extLst>
                  <a:ext uri="{FF2B5EF4-FFF2-40B4-BE49-F238E27FC236}">
                    <a16:creationId xmlns:a16="http://schemas.microsoft.com/office/drawing/2014/main" id="{B493E2A6-26E5-C98E-FD4E-B38089063F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19975" y="4762500"/>
                <a:ext cx="2752725" cy="438150"/>
              </a:xfrm>
              <a:prstGeom prst="rect">
                <a:avLst/>
              </a:prstGeom>
            </p:spPr>
          </p:pic>
          <p:sp>
            <p:nvSpPr>
              <p:cNvPr id="44" name="Text 15">
                <a:extLst>
                  <a:ext uri="{FF2B5EF4-FFF2-40B4-BE49-F238E27FC236}">
                    <a16:creationId xmlns:a16="http://schemas.microsoft.com/office/drawing/2014/main" id="{5325093C-7503-1127-A13D-1370CBAA40EB}"/>
                  </a:ext>
                </a:extLst>
              </p:cNvPr>
              <p:cNvSpPr/>
              <p:nvPr/>
            </p:nvSpPr>
            <p:spPr>
              <a:xfrm>
                <a:off x="7613303" y="4843463"/>
                <a:ext cx="23622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Six-Class Prediction</a:t>
                </a:r>
                <a:endParaRPr lang="en-US" sz="900" dirty="0"/>
              </a:p>
            </p:txBody>
          </p:sp>
          <p:pic>
            <p:nvPicPr>
              <p:cNvPr id="45" name="Image 22" descr="preencoded.png">
                <a:extLst>
                  <a:ext uri="{FF2B5EF4-FFF2-40B4-BE49-F238E27FC236}">
                    <a16:creationId xmlns:a16="http://schemas.microsoft.com/office/drawing/2014/main" id="{8D747C4E-9464-8B0E-F1AD-92156A781E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5375" y="5210175"/>
                <a:ext cx="161925" cy="200025"/>
              </a:xfrm>
              <a:prstGeom prst="rect">
                <a:avLst/>
              </a:prstGeom>
            </p:spPr>
          </p:pic>
          <p:pic>
            <p:nvPicPr>
              <p:cNvPr id="46" name="Image 23" descr="preencoded.png">
                <a:extLst>
                  <a:ext uri="{FF2B5EF4-FFF2-40B4-BE49-F238E27FC236}">
                    <a16:creationId xmlns:a16="http://schemas.microsoft.com/office/drawing/2014/main" id="{BE2B0D2A-6E15-14AD-CBC6-BB51F9C51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19975" y="5429250"/>
                <a:ext cx="2752725" cy="438150"/>
              </a:xfrm>
              <a:prstGeom prst="rect">
                <a:avLst/>
              </a:prstGeom>
            </p:spPr>
          </p:pic>
          <p:sp>
            <p:nvSpPr>
              <p:cNvPr id="47" name="Text 16">
                <a:extLst>
                  <a:ext uri="{FF2B5EF4-FFF2-40B4-BE49-F238E27FC236}">
                    <a16:creationId xmlns:a16="http://schemas.microsoft.com/office/drawing/2014/main" id="{C06AD7E1-1D96-6147-542A-15E118235E8D}"/>
                  </a:ext>
                </a:extLst>
              </p:cNvPr>
              <p:cNvSpPr/>
              <p:nvPr/>
            </p:nvSpPr>
            <p:spPr>
              <a:xfrm>
                <a:off x="7613303" y="5510213"/>
                <a:ext cx="23622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Dashboard + Alerts</a:t>
                </a:r>
                <a:endParaRPr lang="en-US" sz="900" dirty="0"/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CB51062-D43C-230C-069F-08537A765DD6}"/>
              </a:ext>
            </a:extLst>
          </p:cNvPr>
          <p:cNvGrpSpPr/>
          <p:nvPr/>
        </p:nvGrpSpPr>
        <p:grpSpPr>
          <a:xfrm>
            <a:off x="174160" y="2665828"/>
            <a:ext cx="6270048" cy="3165788"/>
            <a:chOff x="174160" y="2665828"/>
            <a:chExt cx="6270048" cy="316578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4F8611-656C-CB37-A7B1-A728CBBD52B6}"/>
                </a:ext>
              </a:extLst>
            </p:cNvPr>
            <p:cNvGrpSpPr/>
            <p:nvPr/>
          </p:nvGrpSpPr>
          <p:grpSpPr>
            <a:xfrm>
              <a:off x="174160" y="2665828"/>
              <a:ext cx="6270048" cy="3165788"/>
              <a:chOff x="276225" y="2645122"/>
              <a:chExt cx="5101530" cy="2498378"/>
            </a:xfrm>
          </p:grpSpPr>
          <p:pic>
            <p:nvPicPr>
              <p:cNvPr id="12" name="Image 4" descr="preencoded.png">
                <a:extLst>
                  <a:ext uri="{FF2B5EF4-FFF2-40B4-BE49-F238E27FC236}">
                    <a16:creationId xmlns:a16="http://schemas.microsoft.com/office/drawing/2014/main" id="{8364172F-DB59-8DD9-5397-F4BF5FDF7A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6225" y="2764520"/>
                <a:ext cx="228600" cy="219075"/>
              </a:xfrm>
              <a:prstGeom prst="rect">
                <a:avLst/>
              </a:prstGeom>
            </p:spPr>
          </p:pic>
          <p:sp>
            <p:nvSpPr>
              <p:cNvPr id="13" name="Text 3">
                <a:extLst>
                  <a:ext uri="{FF2B5EF4-FFF2-40B4-BE49-F238E27FC236}">
                    <a16:creationId xmlns:a16="http://schemas.microsoft.com/office/drawing/2014/main" id="{4FD00AC3-E7A2-67EB-B3A2-217E91E89A61}"/>
                  </a:ext>
                </a:extLst>
              </p:cNvPr>
              <p:cNvSpPr/>
              <p:nvPr/>
            </p:nvSpPr>
            <p:spPr>
              <a:xfrm>
                <a:off x="642342" y="2645122"/>
                <a:ext cx="4735413" cy="42654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A556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Early prediction using only pre-midterm behavioral and demographic data</a:t>
                </a:r>
                <a:endParaRPr lang="en-US" sz="1200" dirty="0"/>
              </a:p>
            </p:txBody>
          </p:sp>
          <p:pic>
            <p:nvPicPr>
              <p:cNvPr id="14" name="Image 5" descr="preencoded.png">
                <a:extLst>
                  <a:ext uri="{FF2B5EF4-FFF2-40B4-BE49-F238E27FC236}">
                    <a16:creationId xmlns:a16="http://schemas.microsoft.com/office/drawing/2014/main" id="{F3E79824-02A9-CF64-424C-74AD98C0D4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6225" y="3209925"/>
                <a:ext cx="247650" cy="219075"/>
              </a:xfrm>
              <a:prstGeom prst="rect">
                <a:avLst/>
              </a:prstGeom>
            </p:spPr>
          </p:pic>
          <p:sp>
            <p:nvSpPr>
              <p:cNvPr id="15" name="Text 4">
                <a:extLst>
                  <a:ext uri="{FF2B5EF4-FFF2-40B4-BE49-F238E27FC236}">
                    <a16:creationId xmlns:a16="http://schemas.microsoft.com/office/drawing/2014/main" id="{C3705028-0A47-7A70-0A53-8D3C9800324A}"/>
                  </a:ext>
                </a:extLst>
              </p:cNvPr>
              <p:cNvSpPr/>
              <p:nvPr/>
            </p:nvSpPr>
            <p:spPr>
              <a:xfrm>
                <a:off x="666750" y="3185964"/>
                <a:ext cx="2280047" cy="21327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A556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 dependency on exam scores</a:t>
                </a:r>
                <a:endParaRPr lang="en-US" sz="1200" dirty="0"/>
              </a:p>
            </p:txBody>
          </p:sp>
          <p:pic>
            <p:nvPicPr>
              <p:cNvPr id="16" name="Image 6" descr="preencoded.png">
                <a:extLst>
                  <a:ext uri="{FF2B5EF4-FFF2-40B4-BE49-F238E27FC236}">
                    <a16:creationId xmlns:a16="http://schemas.microsoft.com/office/drawing/2014/main" id="{0F7B156C-A14A-ED84-5BB6-D80C6B2C5B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6225" y="3552825"/>
                <a:ext cx="247650" cy="219075"/>
              </a:xfrm>
              <a:prstGeom prst="rect">
                <a:avLst/>
              </a:prstGeom>
            </p:spPr>
          </p:pic>
          <p:sp>
            <p:nvSpPr>
              <p:cNvPr id="17" name="Text 5">
                <a:extLst>
                  <a:ext uri="{FF2B5EF4-FFF2-40B4-BE49-F238E27FC236}">
                    <a16:creationId xmlns:a16="http://schemas.microsoft.com/office/drawing/2014/main" id="{39C1075B-0981-055C-6FDB-7B9A63D7019D}"/>
                  </a:ext>
                </a:extLst>
              </p:cNvPr>
              <p:cNvSpPr/>
              <p:nvPr/>
            </p:nvSpPr>
            <p:spPr>
              <a:xfrm>
                <a:off x="666750" y="3528864"/>
                <a:ext cx="2839938" cy="21327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A556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Six-class grading system (A, B, C, D, E, F)</a:t>
                </a:r>
                <a:endParaRPr lang="en-US" sz="1200" dirty="0"/>
              </a:p>
            </p:txBody>
          </p:sp>
          <p:sp>
            <p:nvSpPr>
              <p:cNvPr id="18" name="Text 6">
                <a:extLst>
                  <a:ext uri="{FF2B5EF4-FFF2-40B4-BE49-F238E27FC236}">
                    <a16:creationId xmlns:a16="http://schemas.microsoft.com/office/drawing/2014/main" id="{0A5BC371-E59E-FF42-6AE3-BED7F2590620}"/>
                  </a:ext>
                </a:extLst>
              </p:cNvPr>
              <p:cNvSpPr/>
              <p:nvPr/>
            </p:nvSpPr>
            <p:spPr>
              <a:xfrm>
                <a:off x="666750" y="3871764"/>
                <a:ext cx="4019550" cy="21327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A556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Early-alert dashboard with actionable recommendations</a:t>
                </a:r>
                <a:endParaRPr lang="en-US" sz="1200" dirty="0"/>
              </a:p>
            </p:txBody>
          </p:sp>
          <p:pic>
            <p:nvPicPr>
              <p:cNvPr id="19" name="Image 8" descr="preencoded.png">
                <a:extLst>
                  <a:ext uri="{FF2B5EF4-FFF2-40B4-BE49-F238E27FC236}">
                    <a16:creationId xmlns:a16="http://schemas.microsoft.com/office/drawing/2014/main" id="{BDDAEA1B-35FB-A438-2082-32CDB104D3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6225" y="4238625"/>
                <a:ext cx="247650" cy="219075"/>
              </a:xfrm>
              <a:prstGeom prst="rect">
                <a:avLst/>
              </a:prstGeom>
            </p:spPr>
          </p:pic>
          <p:sp>
            <p:nvSpPr>
              <p:cNvPr id="20" name="Text 7">
                <a:extLst>
                  <a:ext uri="{FF2B5EF4-FFF2-40B4-BE49-F238E27FC236}">
                    <a16:creationId xmlns:a16="http://schemas.microsoft.com/office/drawing/2014/main" id="{F812B87A-99AF-9570-B47A-377849EC5653}"/>
                  </a:ext>
                </a:extLst>
              </p:cNvPr>
              <p:cNvSpPr/>
              <p:nvPr/>
            </p:nvSpPr>
            <p:spPr>
              <a:xfrm>
                <a:off x="666750" y="4214664"/>
                <a:ext cx="3549551" cy="21327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A556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High recall for failing students (F-grade detection)</a:t>
                </a:r>
                <a:endParaRPr lang="en-US" sz="1200" dirty="0"/>
              </a:p>
            </p:txBody>
          </p:sp>
          <p:pic>
            <p:nvPicPr>
              <p:cNvPr id="21" name="Image 9" descr="preencoded.png">
                <a:extLst>
                  <a:ext uri="{FF2B5EF4-FFF2-40B4-BE49-F238E27FC236}">
                    <a16:creationId xmlns:a16="http://schemas.microsoft.com/office/drawing/2014/main" id="{5624ED61-D149-38A7-CD22-DC68EF1974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76225" y="4581525"/>
                <a:ext cx="247650" cy="219075"/>
              </a:xfrm>
              <a:prstGeom prst="rect">
                <a:avLst/>
              </a:prstGeom>
            </p:spPr>
          </p:pic>
          <p:sp>
            <p:nvSpPr>
              <p:cNvPr id="22" name="Text 8">
                <a:extLst>
                  <a:ext uri="{FF2B5EF4-FFF2-40B4-BE49-F238E27FC236}">
                    <a16:creationId xmlns:a16="http://schemas.microsoft.com/office/drawing/2014/main" id="{9EA4EFBC-AEBC-4610-D047-BC8CEC3AD97B}"/>
                  </a:ext>
                </a:extLst>
              </p:cNvPr>
              <p:cNvSpPr/>
              <p:nvPr/>
            </p:nvSpPr>
            <p:spPr>
              <a:xfrm>
                <a:off x="666750" y="4557564"/>
                <a:ext cx="2789486" cy="21327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A556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Model explainability using SHAP values</a:t>
                </a:r>
                <a:endParaRPr lang="en-US" sz="1200" dirty="0"/>
              </a:p>
            </p:txBody>
          </p:sp>
          <p:pic>
            <p:nvPicPr>
              <p:cNvPr id="23" name="Image 10" descr="preencoded.png">
                <a:extLst>
                  <a:ext uri="{FF2B5EF4-FFF2-40B4-BE49-F238E27FC236}">
                    <a16:creationId xmlns:a16="http://schemas.microsoft.com/office/drawing/2014/main" id="{2D97D06B-964B-7A8F-BAA9-E23FF2790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6225" y="4924425"/>
                <a:ext cx="247650" cy="219075"/>
              </a:xfrm>
              <a:prstGeom prst="rect">
                <a:avLst/>
              </a:prstGeom>
            </p:spPr>
          </p:pic>
          <p:sp>
            <p:nvSpPr>
              <p:cNvPr id="24" name="Text 9">
                <a:extLst>
                  <a:ext uri="{FF2B5EF4-FFF2-40B4-BE49-F238E27FC236}">
                    <a16:creationId xmlns:a16="http://schemas.microsoft.com/office/drawing/2014/main" id="{00DA2D0D-7E93-57D9-978B-9A9F4D87E3DA}"/>
                  </a:ext>
                </a:extLst>
              </p:cNvPr>
              <p:cNvSpPr/>
              <p:nvPr/>
            </p:nvSpPr>
            <p:spPr>
              <a:xfrm>
                <a:off x="666750" y="4900464"/>
                <a:ext cx="3170634" cy="21327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A556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Scalable and deployable system architecture</a:t>
                </a:r>
                <a:endParaRPr lang="en-US" sz="1200" dirty="0"/>
              </a:p>
            </p:txBody>
          </p:sp>
        </p:grpSp>
        <p:pic>
          <p:nvPicPr>
            <p:cNvPr id="48" name="Image 7" descr="preencoded.png">
              <a:extLst>
                <a:ext uri="{FF2B5EF4-FFF2-40B4-BE49-F238E27FC236}">
                  <a16:creationId xmlns:a16="http://schemas.microsoft.com/office/drawing/2014/main" id="{E2308780-3DB9-FD76-244A-BBDDA7950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07471" y="4250513"/>
              <a:ext cx="247650" cy="219075"/>
            </a:xfrm>
            <a:prstGeom prst="rect">
              <a:avLst/>
            </a:prstGeom>
          </p:spPr>
        </p:pic>
      </p:grpSp>
      <p:sp>
        <p:nvSpPr>
          <p:cNvPr id="49" name="Text 2">
            <a:extLst>
              <a:ext uri="{FF2B5EF4-FFF2-40B4-BE49-F238E27FC236}">
                <a16:creationId xmlns:a16="http://schemas.microsoft.com/office/drawing/2014/main" id="{BC0057FD-2A58-D0E2-3E8E-C5FA81468744}"/>
              </a:ext>
            </a:extLst>
          </p:cNvPr>
          <p:cNvSpPr/>
          <p:nvPr/>
        </p:nvSpPr>
        <p:spPr>
          <a:xfrm>
            <a:off x="207471" y="1735560"/>
            <a:ext cx="5092005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Objectives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1131E1E-CE24-2ACD-4BF1-227D3C2D0B27}"/>
              </a:ext>
            </a:extLst>
          </p:cNvPr>
          <p:cNvGrpSpPr/>
          <p:nvPr/>
        </p:nvGrpSpPr>
        <p:grpSpPr>
          <a:xfrm>
            <a:off x="179512" y="1293834"/>
            <a:ext cx="8784976" cy="4690406"/>
            <a:chOff x="276225" y="933450"/>
            <a:chExt cx="11639550" cy="5191125"/>
          </a:xfrm>
        </p:grpSpPr>
        <p:pic>
          <p:nvPicPr>
            <p:cNvPr id="3" name="Image 3" descr="preencoded.png">
              <a:extLst>
                <a:ext uri="{FF2B5EF4-FFF2-40B4-BE49-F238E27FC236}">
                  <a16:creationId xmlns:a16="http://schemas.microsoft.com/office/drawing/2014/main" id="{62120122-7775-2D06-E830-229FB83E9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6225" y="933450"/>
              <a:ext cx="2752725" cy="2495550"/>
            </a:xfrm>
            <a:prstGeom prst="rect">
              <a:avLst/>
            </a:prstGeom>
          </p:spPr>
        </p:pic>
        <p:pic>
          <p:nvPicPr>
            <p:cNvPr id="8" name="Image 4" descr="preencoded.png">
              <a:extLst>
                <a:ext uri="{FF2B5EF4-FFF2-40B4-BE49-F238E27FC236}">
                  <a16:creationId xmlns:a16="http://schemas.microsoft.com/office/drawing/2014/main" id="{2BF29361-3008-6E5B-046A-B883BA118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38500" y="933450"/>
              <a:ext cx="2752725" cy="2495550"/>
            </a:xfrm>
            <a:prstGeom prst="rect">
              <a:avLst/>
            </a:prstGeom>
          </p:spPr>
        </p:pic>
        <p:pic>
          <p:nvPicPr>
            <p:cNvPr id="10" name="Image 5" descr="preencoded.png">
              <a:extLst>
                <a:ext uri="{FF2B5EF4-FFF2-40B4-BE49-F238E27FC236}">
                  <a16:creationId xmlns:a16="http://schemas.microsoft.com/office/drawing/2014/main" id="{C1A80C56-5C89-7918-0F13-A56654372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0775" y="933450"/>
              <a:ext cx="2752725" cy="2495550"/>
            </a:xfrm>
            <a:prstGeom prst="rect">
              <a:avLst/>
            </a:prstGeom>
          </p:spPr>
        </p:pic>
        <p:pic>
          <p:nvPicPr>
            <p:cNvPr id="11" name="Image 6" descr="preencoded.png">
              <a:extLst>
                <a:ext uri="{FF2B5EF4-FFF2-40B4-BE49-F238E27FC236}">
                  <a16:creationId xmlns:a16="http://schemas.microsoft.com/office/drawing/2014/main" id="{A079699E-353C-D31E-1A66-F780AB29B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63050" y="933450"/>
              <a:ext cx="2752725" cy="2495550"/>
            </a:xfrm>
            <a:prstGeom prst="rect">
              <a:avLst/>
            </a:prstGeom>
          </p:spPr>
        </p:pic>
        <p:pic>
          <p:nvPicPr>
            <p:cNvPr id="12" name="Image 7" descr="preencoded.png">
              <a:extLst>
                <a:ext uri="{FF2B5EF4-FFF2-40B4-BE49-F238E27FC236}">
                  <a16:creationId xmlns:a16="http://schemas.microsoft.com/office/drawing/2014/main" id="{5401C971-C7AB-FBF1-7EA6-47D3B330E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225" y="3629025"/>
              <a:ext cx="2752725" cy="2495550"/>
            </a:xfrm>
            <a:prstGeom prst="rect">
              <a:avLst/>
            </a:prstGeom>
          </p:spPr>
        </p:pic>
        <p:pic>
          <p:nvPicPr>
            <p:cNvPr id="13" name="Image 8" descr="preencoded.png">
              <a:extLst>
                <a:ext uri="{FF2B5EF4-FFF2-40B4-BE49-F238E27FC236}">
                  <a16:creationId xmlns:a16="http://schemas.microsoft.com/office/drawing/2014/main" id="{EA254E36-CEEE-5097-1C11-6CC35B104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8500" y="3629025"/>
              <a:ext cx="2752725" cy="2495550"/>
            </a:xfrm>
            <a:prstGeom prst="rect">
              <a:avLst/>
            </a:prstGeom>
          </p:spPr>
        </p:pic>
        <p:pic>
          <p:nvPicPr>
            <p:cNvPr id="14" name="Image 9" descr="preencoded.png">
              <a:extLst>
                <a:ext uri="{FF2B5EF4-FFF2-40B4-BE49-F238E27FC236}">
                  <a16:creationId xmlns:a16="http://schemas.microsoft.com/office/drawing/2014/main" id="{2487E38A-50B6-AE69-FD50-7AB567F37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00775" y="3629025"/>
              <a:ext cx="2752725" cy="2495550"/>
            </a:xfrm>
            <a:prstGeom prst="rect">
              <a:avLst/>
            </a:prstGeom>
          </p:spPr>
        </p:pic>
        <p:pic>
          <p:nvPicPr>
            <p:cNvPr id="15" name="Image 10" descr="preencoded.png">
              <a:extLst>
                <a:ext uri="{FF2B5EF4-FFF2-40B4-BE49-F238E27FC236}">
                  <a16:creationId xmlns:a16="http://schemas.microsoft.com/office/drawing/2014/main" id="{6BC64DC7-29CE-D6DA-1FB3-2530F322A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63050" y="3629025"/>
              <a:ext cx="2752725" cy="2495550"/>
            </a:xfrm>
            <a:prstGeom prst="rect">
              <a:avLst/>
            </a:prstGeom>
          </p:spPr>
        </p:pic>
        <p:pic>
          <p:nvPicPr>
            <p:cNvPr id="16" name="Image 11" descr="preencoded.png">
              <a:extLst>
                <a:ext uri="{FF2B5EF4-FFF2-40B4-BE49-F238E27FC236}">
                  <a16:creationId xmlns:a16="http://schemas.microsoft.com/office/drawing/2014/main" id="{75C4AD81-6F1F-8440-F661-0F3173CAB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95425" y="1133475"/>
              <a:ext cx="314325" cy="304800"/>
            </a:xfrm>
            <a:prstGeom prst="rect">
              <a:avLst/>
            </a:prstGeom>
          </p:spPr>
        </p:pic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7EBB2902-FDB3-8DB9-7FEF-BD51B0AA8BBE}"/>
                </a:ext>
              </a:extLst>
            </p:cNvPr>
            <p:cNvSpPr/>
            <p:nvPr/>
          </p:nvSpPr>
          <p:spPr>
            <a:xfrm>
              <a:off x="485775" y="1581150"/>
              <a:ext cx="23336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Early prediction without exam data</a:t>
              </a:r>
              <a:endParaRPr lang="en-US" sz="1400" dirty="0"/>
            </a:p>
          </p:txBody>
        </p:sp>
        <p:sp>
          <p:nvSpPr>
            <p:cNvPr id="18" name="Text 3">
              <a:extLst>
                <a:ext uri="{FF2B5EF4-FFF2-40B4-BE49-F238E27FC236}">
                  <a16:creationId xmlns:a16="http://schemas.microsoft.com/office/drawing/2014/main" id="{C3F3A58E-520E-D670-35AB-EEB3112EA724}"/>
                </a:ext>
              </a:extLst>
            </p:cNvPr>
            <p:cNvSpPr/>
            <p:nvPr/>
          </p:nvSpPr>
          <p:spPr>
            <a:xfrm>
              <a:off x="485775" y="2301478"/>
              <a:ext cx="2333625" cy="34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Uses only pre-midterm behavioral and demographic features</a:t>
              </a:r>
              <a:endParaRPr lang="en-US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9" name="Image 12" descr="preencoded.png">
              <a:extLst>
                <a:ext uri="{FF2B5EF4-FFF2-40B4-BE49-F238E27FC236}">
                  <a16:creationId xmlns:a16="http://schemas.microsoft.com/office/drawing/2014/main" id="{D59C7073-D6F1-D813-48C1-346F59F51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95800" y="1133475"/>
              <a:ext cx="238125" cy="304800"/>
            </a:xfrm>
            <a:prstGeom prst="rect">
              <a:avLst/>
            </a:prstGeom>
          </p:spPr>
        </p:pic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A6693EDD-D933-7D96-C370-23D01ED9180F}"/>
                </a:ext>
              </a:extLst>
            </p:cNvPr>
            <p:cNvSpPr/>
            <p:nvPr/>
          </p:nvSpPr>
          <p:spPr>
            <a:xfrm>
              <a:off x="3528864" y="1581150"/>
              <a:ext cx="217199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effective_study_time feature</a:t>
              </a:r>
              <a:endParaRPr lang="en-US" sz="1400" dirty="0"/>
            </a:p>
          </p:txBody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C0CF08E5-4A58-AE69-2316-A481934653B7}"/>
                </a:ext>
              </a:extLst>
            </p:cNvPr>
            <p:cNvSpPr/>
            <p:nvPr/>
          </p:nvSpPr>
          <p:spPr>
            <a:xfrm>
              <a:off x="3448050" y="2110978"/>
              <a:ext cx="2333625" cy="34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Engineered metric combining study duration and engagement quality</a:t>
              </a:r>
              <a:endParaRPr lang="en-US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22" name="Image 13" descr="preencoded.png">
              <a:extLst>
                <a:ext uri="{FF2B5EF4-FFF2-40B4-BE49-F238E27FC236}">
                  <a16:creationId xmlns:a16="http://schemas.microsoft.com/office/drawing/2014/main" id="{47B32302-E9F8-BA5D-206A-16DEB5389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00925" y="1133475"/>
              <a:ext cx="352425" cy="304800"/>
            </a:xfrm>
            <a:prstGeom prst="rect">
              <a:avLst/>
            </a:prstGeom>
          </p:spPr>
        </p:pic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E73BC35C-F9EA-046C-8CB1-86AD868B70BD}"/>
                </a:ext>
              </a:extLst>
            </p:cNvPr>
            <p:cNvSpPr/>
            <p:nvPr/>
          </p:nvSpPr>
          <p:spPr>
            <a:xfrm>
              <a:off x="6871246" y="1581150"/>
              <a:ext cx="1411784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KMeans clustering</a:t>
              </a:r>
              <a:endParaRPr lang="en-US" sz="1400" dirty="0"/>
            </a:p>
          </p:txBody>
        </p:sp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C5208DA2-1D71-0A4B-D5DB-DA7B21AED8D0}"/>
                </a:ext>
              </a:extLst>
            </p:cNvPr>
            <p:cNvSpPr/>
            <p:nvPr/>
          </p:nvSpPr>
          <p:spPr>
            <a:xfrm>
              <a:off x="6410325" y="2110978"/>
              <a:ext cx="2333625" cy="34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Groups students into behavioral patterns for targeted modeling</a:t>
              </a:r>
              <a:endParaRPr lang="en-US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25" name="Image 14" descr="preencoded.png">
              <a:extLst>
                <a:ext uri="{FF2B5EF4-FFF2-40B4-BE49-F238E27FC236}">
                  <a16:creationId xmlns:a16="http://schemas.microsoft.com/office/drawing/2014/main" id="{E7379683-523E-9998-ACC7-84573B669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344150" y="1133475"/>
              <a:ext cx="390525" cy="304800"/>
            </a:xfrm>
            <a:prstGeom prst="rect">
              <a:avLst/>
            </a:prstGeom>
          </p:spPr>
        </p:pic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BB315380-D7C6-04FF-4424-25C23878D9CF}"/>
                </a:ext>
              </a:extLst>
            </p:cNvPr>
            <p:cNvSpPr/>
            <p:nvPr/>
          </p:nvSpPr>
          <p:spPr>
            <a:xfrm>
              <a:off x="9751814" y="1581150"/>
              <a:ext cx="157504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Ensemble regression</a:t>
              </a:r>
              <a:endParaRPr lang="en-US" sz="1400" dirty="0"/>
            </a:p>
          </p:txBody>
        </p:sp>
        <p:sp>
          <p:nvSpPr>
            <p:cNvPr id="27" name="Text 9">
              <a:extLst>
                <a:ext uri="{FF2B5EF4-FFF2-40B4-BE49-F238E27FC236}">
                  <a16:creationId xmlns:a16="http://schemas.microsoft.com/office/drawing/2014/main" id="{89FD0F2B-4003-94EC-7172-F409233F32A1}"/>
                </a:ext>
              </a:extLst>
            </p:cNvPr>
            <p:cNvSpPr/>
            <p:nvPr/>
          </p:nvSpPr>
          <p:spPr>
            <a:xfrm>
              <a:off x="9372600" y="2110978"/>
              <a:ext cx="2333625" cy="5107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Combines Random Forest, Gradient Boosting, and XGBoost for score prediction</a:t>
              </a:r>
              <a:endParaRPr lang="en-US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28" name="Image 15" descr="preencoded.png">
              <a:extLst>
                <a:ext uri="{FF2B5EF4-FFF2-40B4-BE49-F238E27FC236}">
                  <a16:creationId xmlns:a16="http://schemas.microsoft.com/office/drawing/2014/main" id="{8482AB99-7BA4-8CAB-2265-631491DA5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76375" y="3829050"/>
              <a:ext cx="352425" cy="314325"/>
            </a:xfrm>
            <a:prstGeom prst="rect">
              <a:avLst/>
            </a:prstGeom>
          </p:spPr>
        </p:pic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204720C9-22FA-DBDC-5F8C-18D37747C929}"/>
                </a:ext>
              </a:extLst>
            </p:cNvPr>
            <p:cNvSpPr/>
            <p:nvPr/>
          </p:nvSpPr>
          <p:spPr>
            <a:xfrm>
              <a:off x="1037034" y="4281488"/>
              <a:ext cx="1231106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Hybrid classifier</a:t>
              </a:r>
              <a:endParaRPr lang="en-US" sz="1400" dirty="0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8FEED609-B23E-6758-DE86-1F5159629DB2}"/>
                </a:ext>
              </a:extLst>
            </p:cNvPr>
            <p:cNvSpPr/>
            <p:nvPr/>
          </p:nvSpPr>
          <p:spPr>
            <a:xfrm>
              <a:off x="485775" y="4811316"/>
              <a:ext cx="2333625" cy="34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Integrates predicted_score as a feature for grade classification</a:t>
              </a:r>
              <a:endParaRPr lang="en-US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31" name="Image 16" descr="preencoded.png">
              <a:extLst>
                <a:ext uri="{FF2B5EF4-FFF2-40B4-BE49-F238E27FC236}">
                  <a16:creationId xmlns:a16="http://schemas.microsoft.com/office/drawing/2014/main" id="{85F2E44F-E22F-340B-3A29-959F4701C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457700" y="3829050"/>
              <a:ext cx="314325" cy="314325"/>
            </a:xfrm>
            <a:prstGeom prst="rect">
              <a:avLst/>
            </a:prstGeom>
          </p:spPr>
        </p:pic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6DAC1EE1-299B-951E-4CEE-E37B897F3BD1}"/>
                </a:ext>
              </a:extLst>
            </p:cNvPr>
            <p:cNvSpPr/>
            <p:nvPr/>
          </p:nvSpPr>
          <p:spPr>
            <a:xfrm>
              <a:off x="3538389" y="4281488"/>
              <a:ext cx="215279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Ordinal probability boosting</a:t>
              </a:r>
              <a:endParaRPr lang="en-US" sz="1400" dirty="0"/>
            </a:p>
          </p:txBody>
        </p:sp>
        <p:sp>
          <p:nvSpPr>
            <p:cNvPr id="33" name="Text 13">
              <a:extLst>
                <a:ext uri="{FF2B5EF4-FFF2-40B4-BE49-F238E27FC236}">
                  <a16:creationId xmlns:a16="http://schemas.microsoft.com/office/drawing/2014/main" id="{724AFCC8-25BC-5636-B198-B9A9F8B2AF0D}"/>
                </a:ext>
              </a:extLst>
            </p:cNvPr>
            <p:cNvSpPr/>
            <p:nvPr/>
          </p:nvSpPr>
          <p:spPr>
            <a:xfrm>
              <a:off x="3448050" y="4811316"/>
              <a:ext cx="2333625" cy="34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Respects grade ordering (A &gt; B &gt; C &gt; D &gt; E &gt; F)</a:t>
              </a:r>
              <a:endParaRPr lang="en-US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34" name="Image 17" descr="preencoded.png">
              <a:extLst>
                <a:ext uri="{FF2B5EF4-FFF2-40B4-BE49-F238E27FC236}">
                  <a16:creationId xmlns:a16="http://schemas.microsoft.com/office/drawing/2014/main" id="{E556E254-37EB-74A7-9E81-551ADCD7B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439025" y="3829050"/>
              <a:ext cx="276225" cy="314325"/>
            </a:xfrm>
            <a:prstGeom prst="rect">
              <a:avLst/>
            </a:prstGeom>
          </p:spPr>
        </p:pic>
        <p:sp>
          <p:nvSpPr>
            <p:cNvPr id="35" name="Text 14">
              <a:extLst>
                <a:ext uri="{FF2B5EF4-FFF2-40B4-BE49-F238E27FC236}">
                  <a16:creationId xmlns:a16="http://schemas.microsoft.com/office/drawing/2014/main" id="{34BEFE3E-79EC-2D11-A4F9-E54F3345C8CB}"/>
                </a:ext>
              </a:extLst>
            </p:cNvPr>
            <p:cNvSpPr/>
            <p:nvPr/>
          </p:nvSpPr>
          <p:spPr>
            <a:xfrm>
              <a:off x="6650385" y="4281488"/>
              <a:ext cx="185350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Six-class grading system</a:t>
              </a:r>
              <a:endParaRPr lang="en-US" sz="1400" dirty="0"/>
            </a:p>
          </p:txBody>
        </p:sp>
        <p:sp>
          <p:nvSpPr>
            <p:cNvPr id="36" name="Text 15">
              <a:extLst>
                <a:ext uri="{FF2B5EF4-FFF2-40B4-BE49-F238E27FC236}">
                  <a16:creationId xmlns:a16="http://schemas.microsoft.com/office/drawing/2014/main" id="{6336D76D-F045-7A19-2258-C805F1DC8D1C}"/>
                </a:ext>
              </a:extLst>
            </p:cNvPr>
            <p:cNvSpPr/>
            <p:nvPr/>
          </p:nvSpPr>
          <p:spPr>
            <a:xfrm>
              <a:off x="6410325" y="4811316"/>
              <a:ext cx="2333625" cy="34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Provides granular performance categories</a:t>
              </a:r>
              <a:endParaRPr lang="en-US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37" name="Image 18" descr="preencoded.png">
              <a:extLst>
                <a:ext uri="{FF2B5EF4-FFF2-40B4-BE49-F238E27FC236}">
                  <a16:creationId xmlns:a16="http://schemas.microsoft.com/office/drawing/2014/main" id="{463FDEA6-60E9-A0C1-2498-0EACF1FA8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382250" y="3829050"/>
              <a:ext cx="314325" cy="314325"/>
            </a:xfrm>
            <a:prstGeom prst="rect">
              <a:avLst/>
            </a:prstGeom>
          </p:spPr>
        </p:pic>
        <p:sp>
          <p:nvSpPr>
            <p:cNvPr id="38" name="Text 16">
              <a:extLst>
                <a:ext uri="{FF2B5EF4-FFF2-40B4-BE49-F238E27FC236}">
                  <a16:creationId xmlns:a16="http://schemas.microsoft.com/office/drawing/2014/main" id="{6884875E-D02A-C0A6-EDDB-749E0F917B8E}"/>
                </a:ext>
              </a:extLst>
            </p:cNvPr>
            <p:cNvSpPr/>
            <p:nvPr/>
          </p:nvSpPr>
          <p:spPr>
            <a:xfrm>
              <a:off x="9582745" y="4281488"/>
              <a:ext cx="1913334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Early-warning dashboard</a:t>
              </a:r>
              <a:endParaRPr lang="en-US" sz="1400" dirty="0"/>
            </a:p>
          </p:txBody>
        </p:sp>
        <p:sp>
          <p:nvSpPr>
            <p:cNvPr id="39" name="Text 17">
              <a:extLst>
                <a:ext uri="{FF2B5EF4-FFF2-40B4-BE49-F238E27FC236}">
                  <a16:creationId xmlns:a16="http://schemas.microsoft.com/office/drawing/2014/main" id="{CB391BE0-EDD7-607E-F241-4746719F40CA}"/>
                </a:ext>
              </a:extLst>
            </p:cNvPr>
            <p:cNvSpPr/>
            <p:nvPr/>
          </p:nvSpPr>
          <p:spPr>
            <a:xfrm>
              <a:off x="9372600" y="4811316"/>
              <a:ext cx="2333625" cy="34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Visual interface with risk levels and personalized recommendations</a:t>
              </a:r>
              <a:endParaRPr lang="en-US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0" name="Image 4" descr="preencoded.png">
            <a:extLst>
              <a:ext uri="{FF2B5EF4-FFF2-40B4-BE49-F238E27FC236}">
                <a16:creationId xmlns:a16="http://schemas.microsoft.com/office/drawing/2014/main" id="{BB4AE3B1-9F11-2295-5C19-3B366B622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8" y="5820961"/>
            <a:ext cx="9071992" cy="236019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9687DF26-C9B7-67A3-56A9-1E234CBA0D94}"/>
              </a:ext>
            </a:extLst>
          </p:cNvPr>
          <p:cNvGrpSpPr/>
          <p:nvPr/>
        </p:nvGrpSpPr>
        <p:grpSpPr>
          <a:xfrm>
            <a:off x="72008" y="1326535"/>
            <a:ext cx="9232686" cy="4750400"/>
            <a:chOff x="276225" y="1767358"/>
            <a:chExt cx="8910191" cy="4433417"/>
          </a:xfrm>
        </p:grpSpPr>
        <p:pic>
          <p:nvPicPr>
            <p:cNvPr id="41" name="Image 3" descr="preencoded.png">
              <a:extLst>
                <a:ext uri="{FF2B5EF4-FFF2-40B4-BE49-F238E27FC236}">
                  <a16:creationId xmlns:a16="http://schemas.microsoft.com/office/drawing/2014/main" id="{C608E1E5-EE2B-12E4-A890-2056FA9BB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6225" y="5295900"/>
              <a:ext cx="8755109" cy="904875"/>
            </a:xfrm>
            <a:prstGeom prst="rect">
              <a:avLst/>
            </a:prstGeom>
          </p:spPr>
        </p:pic>
        <p:pic>
          <p:nvPicPr>
            <p:cNvPr id="42" name="Image 5" descr="preencoded.png">
              <a:extLst>
                <a:ext uri="{FF2B5EF4-FFF2-40B4-BE49-F238E27FC236}">
                  <a16:creationId xmlns:a16="http://schemas.microsoft.com/office/drawing/2014/main" id="{50E17FC1-1FF3-E1D1-DB39-790B8575B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225" y="5991225"/>
              <a:ext cx="8685617" cy="156370"/>
            </a:xfrm>
            <a:prstGeom prst="rect">
              <a:avLst/>
            </a:prstGeom>
          </p:spPr>
        </p:pic>
        <p:pic>
          <p:nvPicPr>
            <p:cNvPr id="44" name="Image 6" descr="preencoded.png">
              <a:extLst>
                <a:ext uri="{FF2B5EF4-FFF2-40B4-BE49-F238E27FC236}">
                  <a16:creationId xmlns:a16="http://schemas.microsoft.com/office/drawing/2014/main" id="{057F7C7E-4C78-6E58-9DC3-88C9DB1F2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8624" y="1767358"/>
              <a:ext cx="247650" cy="228600"/>
            </a:xfrm>
            <a:prstGeom prst="rect">
              <a:avLst/>
            </a:prstGeom>
          </p:spPr>
        </p:pic>
        <p:sp>
          <p:nvSpPr>
            <p:cNvPr id="45" name="Text 3">
              <a:extLst>
                <a:ext uri="{FF2B5EF4-FFF2-40B4-BE49-F238E27FC236}">
                  <a16:creationId xmlns:a16="http://schemas.microsoft.com/office/drawing/2014/main" id="{DC53F127-0397-1509-306E-DD6307590B0A}"/>
                </a:ext>
              </a:extLst>
            </p:cNvPr>
            <p:cNvSpPr/>
            <p:nvPr/>
          </p:nvSpPr>
          <p:spPr>
            <a:xfrm>
              <a:off x="819150" y="1847850"/>
              <a:ext cx="745658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End-to-end pipeline completed:</a:t>
              </a:r>
              <a:r>
                <a:rPr lang="en-US" sz="1400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Full workflow from data to dashboard operational</a:t>
              </a:r>
            </a:p>
            <a:p>
              <a:pPr marL="0" indent="0">
                <a:buNone/>
              </a:pPr>
              <a:endParaRPr lang="en-US" sz="1400" dirty="0"/>
            </a:p>
          </p:txBody>
        </p:sp>
        <p:pic>
          <p:nvPicPr>
            <p:cNvPr id="46" name="Image 7" descr="preencoded.png">
              <a:extLst>
                <a:ext uri="{FF2B5EF4-FFF2-40B4-BE49-F238E27FC236}">
                  <a16:creationId xmlns:a16="http://schemas.microsoft.com/office/drawing/2014/main" id="{C59FC1EE-B036-99D2-99EF-681ABC058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3636" y="2212260"/>
              <a:ext cx="247650" cy="228600"/>
            </a:xfrm>
            <a:prstGeom prst="rect">
              <a:avLst/>
            </a:prstGeom>
          </p:spPr>
        </p:pic>
        <p:sp>
          <p:nvSpPr>
            <p:cNvPr id="47" name="Text 4">
              <a:extLst>
                <a:ext uri="{FF2B5EF4-FFF2-40B4-BE49-F238E27FC236}">
                  <a16:creationId xmlns:a16="http://schemas.microsoft.com/office/drawing/2014/main" id="{2620C26A-2605-764B-BC7F-F92147270844}"/>
                </a:ext>
              </a:extLst>
            </p:cNvPr>
            <p:cNvSpPr/>
            <p:nvPr/>
          </p:nvSpPr>
          <p:spPr>
            <a:xfrm>
              <a:off x="819150" y="2305050"/>
              <a:ext cx="8227516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 models implemented:</a:t>
              </a:r>
              <a:r>
                <a:rPr lang="en-US" sz="1400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KMeans, 3 regressors, hybrid classifier, ordinal boosting, ensemble</a:t>
              </a:r>
            </a:p>
            <a:p>
              <a:pPr marL="0" indent="0">
                <a:buNone/>
              </a:pPr>
              <a:endParaRPr lang="en-US" sz="1400" dirty="0"/>
            </a:p>
          </p:txBody>
        </p:sp>
        <p:pic>
          <p:nvPicPr>
            <p:cNvPr id="48" name="Image 8" descr="preencoded.png">
              <a:extLst>
                <a:ext uri="{FF2B5EF4-FFF2-40B4-BE49-F238E27FC236}">
                  <a16:creationId xmlns:a16="http://schemas.microsoft.com/office/drawing/2014/main" id="{BA32AAD8-16F5-119A-9961-546894E05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2159" y="2665781"/>
              <a:ext cx="247650" cy="228600"/>
            </a:xfrm>
            <a:prstGeom prst="rect">
              <a:avLst/>
            </a:prstGeom>
          </p:spPr>
        </p:pic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F16CBA9D-509C-3850-F1DD-77F37D534303}"/>
                </a:ext>
              </a:extLst>
            </p:cNvPr>
            <p:cNvSpPr/>
            <p:nvPr/>
          </p:nvSpPr>
          <p:spPr>
            <a:xfrm>
              <a:off x="819150" y="2762250"/>
              <a:ext cx="678581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84.60% accuracy achieved:</a:t>
              </a:r>
              <a:r>
                <a:rPr lang="en-US" sz="1400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High performance on six-class grade prediction</a:t>
              </a:r>
            </a:p>
            <a:p>
              <a:pPr marL="0" indent="0">
                <a:buNone/>
              </a:pPr>
              <a:endParaRPr lang="en-US" sz="1400" dirty="0"/>
            </a:p>
          </p:txBody>
        </p:sp>
        <p:pic>
          <p:nvPicPr>
            <p:cNvPr id="50" name="Image 9" descr="preencoded.png">
              <a:extLst>
                <a:ext uri="{FF2B5EF4-FFF2-40B4-BE49-F238E27FC236}">
                  <a16:creationId xmlns:a16="http://schemas.microsoft.com/office/drawing/2014/main" id="{1181E951-49C6-368E-7691-6018D5447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6234" y="3140938"/>
              <a:ext cx="247650" cy="228600"/>
            </a:xfrm>
            <a:prstGeom prst="rect">
              <a:avLst/>
            </a:prstGeom>
          </p:spPr>
        </p:pic>
        <p:sp>
          <p:nvSpPr>
            <p:cNvPr id="51" name="Text 6">
              <a:extLst>
                <a:ext uri="{FF2B5EF4-FFF2-40B4-BE49-F238E27FC236}">
                  <a16:creationId xmlns:a16="http://schemas.microsoft.com/office/drawing/2014/main" id="{A44CA851-9E3D-8F55-ECDD-3B19BA0DD7D1}"/>
                </a:ext>
              </a:extLst>
            </p:cNvPr>
            <p:cNvSpPr/>
            <p:nvPr/>
          </p:nvSpPr>
          <p:spPr>
            <a:xfrm>
              <a:off x="819150" y="3219450"/>
              <a:ext cx="7212062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Dashboard developed:</a:t>
              </a:r>
              <a:r>
                <a:rPr lang="en-US" sz="1400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Interactive early-warning system with recommendations</a:t>
              </a:r>
            </a:p>
            <a:p>
              <a:pPr marL="0" indent="0">
                <a:buNone/>
              </a:pPr>
              <a:endParaRPr lang="en-US" sz="1400" dirty="0"/>
            </a:p>
          </p:txBody>
        </p:sp>
        <p:pic>
          <p:nvPicPr>
            <p:cNvPr id="52" name="Image 10" descr="preencoded.png">
              <a:extLst>
                <a:ext uri="{FF2B5EF4-FFF2-40B4-BE49-F238E27FC236}">
                  <a16:creationId xmlns:a16="http://schemas.microsoft.com/office/drawing/2014/main" id="{AD1A6DE7-78BD-32C5-9FB6-9E5EDFE27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8625" y="3586633"/>
              <a:ext cx="247650" cy="228600"/>
            </a:xfrm>
            <a:prstGeom prst="rect">
              <a:avLst/>
            </a:prstGeom>
          </p:spPr>
        </p:pic>
        <p:sp>
          <p:nvSpPr>
            <p:cNvPr id="53" name="Text 7">
              <a:extLst>
                <a:ext uri="{FF2B5EF4-FFF2-40B4-BE49-F238E27FC236}">
                  <a16:creationId xmlns:a16="http://schemas.microsoft.com/office/drawing/2014/main" id="{C33ED154-78C7-061A-E923-5E5F55F784F0}"/>
                </a:ext>
              </a:extLst>
            </p:cNvPr>
            <p:cNvSpPr/>
            <p:nvPr/>
          </p:nvSpPr>
          <p:spPr>
            <a:xfrm>
              <a:off x="819150" y="3676650"/>
              <a:ext cx="749066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SHAP analysis completed:</a:t>
              </a:r>
              <a:r>
                <a:rPr lang="en-US" sz="1400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 interpretability and feature importance identified</a:t>
              </a:r>
            </a:p>
            <a:p>
              <a:pPr marL="0" indent="0">
                <a:buNone/>
              </a:pPr>
              <a:endParaRPr lang="en-US" sz="1400" dirty="0"/>
            </a:p>
          </p:txBody>
        </p:sp>
        <p:pic>
          <p:nvPicPr>
            <p:cNvPr id="54" name="Image 11" descr="preencoded.png">
              <a:extLst>
                <a:ext uri="{FF2B5EF4-FFF2-40B4-BE49-F238E27FC236}">
                  <a16:creationId xmlns:a16="http://schemas.microsoft.com/office/drawing/2014/main" id="{6675477F-250F-87B1-F1A9-69270BF06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3843" y="4049206"/>
              <a:ext cx="232431" cy="214552"/>
            </a:xfrm>
            <a:prstGeom prst="rect">
              <a:avLst/>
            </a:prstGeom>
          </p:spPr>
        </p:pic>
        <p:sp>
          <p:nvSpPr>
            <p:cNvPr id="55" name="Text 8">
              <a:extLst>
                <a:ext uri="{FF2B5EF4-FFF2-40B4-BE49-F238E27FC236}">
                  <a16:creationId xmlns:a16="http://schemas.microsoft.com/office/drawing/2014/main" id="{0859A594-6285-ECDB-F5BC-F7CB50AFE8AE}"/>
                </a:ext>
              </a:extLst>
            </p:cNvPr>
            <p:cNvSpPr/>
            <p:nvPr/>
          </p:nvSpPr>
          <p:spPr>
            <a:xfrm>
              <a:off x="819150" y="4133850"/>
              <a:ext cx="630421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Visualizations created:</a:t>
              </a:r>
              <a:r>
                <a:rPr lang="en-US" sz="1400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Comprehensive charts for results and insights</a:t>
              </a:r>
            </a:p>
            <a:p>
              <a:pPr marL="0" indent="0">
                <a:buNone/>
              </a:pPr>
              <a:endParaRPr lang="en-US" sz="1400" dirty="0"/>
            </a:p>
          </p:txBody>
        </p:sp>
        <p:pic>
          <p:nvPicPr>
            <p:cNvPr id="56" name="Image 12" descr="preencoded.png">
              <a:extLst>
                <a:ext uri="{FF2B5EF4-FFF2-40B4-BE49-F238E27FC236}">
                  <a16:creationId xmlns:a16="http://schemas.microsoft.com/office/drawing/2014/main" id="{117767FD-D927-F101-C9FD-83B29172C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3636" y="4512454"/>
              <a:ext cx="247650" cy="228600"/>
            </a:xfrm>
            <a:prstGeom prst="rect">
              <a:avLst/>
            </a:prstGeom>
          </p:spPr>
        </p:pic>
        <p:sp>
          <p:nvSpPr>
            <p:cNvPr id="57" name="Text 9">
              <a:extLst>
                <a:ext uri="{FF2B5EF4-FFF2-40B4-BE49-F238E27FC236}">
                  <a16:creationId xmlns:a16="http://schemas.microsoft.com/office/drawing/2014/main" id="{B5FE3BEC-0B57-386B-D695-1A88E44E7E85}"/>
                </a:ext>
              </a:extLst>
            </p:cNvPr>
            <p:cNvSpPr/>
            <p:nvPr/>
          </p:nvSpPr>
          <p:spPr>
            <a:xfrm>
              <a:off x="819150" y="4591050"/>
              <a:ext cx="3865662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Status:</a:t>
              </a:r>
              <a:r>
                <a:rPr lang="en-US" sz="1400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Completed &amp; Ready for Submission</a:t>
              </a:r>
            </a:p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58" name="Text 10">
              <a:extLst>
                <a:ext uri="{FF2B5EF4-FFF2-40B4-BE49-F238E27FC236}">
                  <a16:creationId xmlns:a16="http://schemas.microsoft.com/office/drawing/2014/main" id="{B71F6512-0164-7065-E99F-60ADA0638823}"/>
                </a:ext>
              </a:extLst>
            </p:cNvPr>
            <p:cNvSpPr/>
            <p:nvPr/>
          </p:nvSpPr>
          <p:spPr>
            <a:xfrm>
              <a:off x="361950" y="5629275"/>
              <a:ext cx="1494532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Project Status</a:t>
              </a:r>
              <a:endParaRPr lang="en-US" sz="1200" dirty="0"/>
            </a:p>
          </p:txBody>
        </p:sp>
        <p:sp>
          <p:nvSpPr>
            <p:cNvPr id="59" name="Text 11">
              <a:extLst>
                <a:ext uri="{FF2B5EF4-FFF2-40B4-BE49-F238E27FC236}">
                  <a16:creationId xmlns:a16="http://schemas.microsoft.com/office/drawing/2014/main" id="{C102E578-15A0-5E2C-DAB1-8D7278ACDE03}"/>
                </a:ext>
              </a:extLst>
            </p:cNvPr>
            <p:cNvSpPr/>
            <p:nvPr/>
          </p:nvSpPr>
          <p:spPr>
            <a:xfrm>
              <a:off x="7433221" y="5629275"/>
              <a:ext cx="175319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100% Complete</a:t>
              </a:r>
              <a:endParaRPr lang="en-US" sz="1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46BC8B9-61BA-AC8A-D313-5419736D55BC}"/>
              </a:ext>
            </a:extLst>
          </p:cNvPr>
          <p:cNvGrpSpPr/>
          <p:nvPr/>
        </p:nvGrpSpPr>
        <p:grpSpPr>
          <a:xfrm>
            <a:off x="107502" y="1217670"/>
            <a:ext cx="9108505" cy="5347329"/>
            <a:chOff x="1333500" y="981075"/>
            <a:chExt cx="9525000" cy="5303044"/>
          </a:xfrm>
        </p:grpSpPr>
        <p:pic>
          <p:nvPicPr>
            <p:cNvPr id="3" name="Image 4" descr="preencoded.png">
              <a:extLst>
                <a:ext uri="{FF2B5EF4-FFF2-40B4-BE49-F238E27FC236}">
                  <a16:creationId xmlns:a16="http://schemas.microsoft.com/office/drawing/2014/main" id="{E592009C-3DE2-3EC6-D7A0-9C9D1ECC1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5975" y="1019175"/>
              <a:ext cx="400050" cy="409575"/>
            </a:xfrm>
            <a:prstGeom prst="rect">
              <a:avLst/>
            </a:prstGeom>
          </p:spPr>
        </p:pic>
        <p:pic>
          <p:nvPicPr>
            <p:cNvPr id="6" name="Image 5" descr="preencoded.png">
              <a:extLst>
                <a:ext uri="{FF2B5EF4-FFF2-40B4-BE49-F238E27FC236}">
                  <a16:creationId xmlns:a16="http://schemas.microsoft.com/office/drawing/2014/main" id="{E0728CA6-674D-576A-ACA0-D1F245FB1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95975" y="1695450"/>
              <a:ext cx="400050" cy="409575"/>
            </a:xfrm>
            <a:prstGeom prst="rect">
              <a:avLst/>
            </a:prstGeom>
          </p:spPr>
        </p:pic>
        <p:pic>
          <p:nvPicPr>
            <p:cNvPr id="8" name="Image 6" descr="preencoded.png">
              <a:extLst>
                <a:ext uri="{FF2B5EF4-FFF2-40B4-BE49-F238E27FC236}">
                  <a16:creationId xmlns:a16="http://schemas.microsoft.com/office/drawing/2014/main" id="{74F071E5-41CE-BA10-23A2-18ED190F6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95975" y="2381250"/>
              <a:ext cx="400050" cy="409575"/>
            </a:xfrm>
            <a:prstGeom prst="rect">
              <a:avLst/>
            </a:prstGeom>
          </p:spPr>
        </p:pic>
        <p:pic>
          <p:nvPicPr>
            <p:cNvPr id="10" name="Image 7" descr="preencoded.png">
              <a:extLst>
                <a:ext uri="{FF2B5EF4-FFF2-40B4-BE49-F238E27FC236}">
                  <a16:creationId xmlns:a16="http://schemas.microsoft.com/office/drawing/2014/main" id="{8EB0A16F-4349-F93A-AF5D-423BD647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95975" y="3057525"/>
              <a:ext cx="400050" cy="409575"/>
            </a:xfrm>
            <a:prstGeom prst="rect">
              <a:avLst/>
            </a:prstGeom>
          </p:spPr>
        </p:pic>
        <p:pic>
          <p:nvPicPr>
            <p:cNvPr id="11" name="Image 8" descr="preencoded.png">
              <a:extLst>
                <a:ext uri="{FF2B5EF4-FFF2-40B4-BE49-F238E27FC236}">
                  <a16:creationId xmlns:a16="http://schemas.microsoft.com/office/drawing/2014/main" id="{414355F7-ECC7-29FF-707D-52CD680B8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5975" y="3743325"/>
              <a:ext cx="400050" cy="409575"/>
            </a:xfrm>
            <a:prstGeom prst="rect">
              <a:avLst/>
            </a:prstGeom>
          </p:spPr>
        </p:pic>
        <p:pic>
          <p:nvPicPr>
            <p:cNvPr id="12" name="Image 9" descr="preencoded.png">
              <a:extLst>
                <a:ext uri="{FF2B5EF4-FFF2-40B4-BE49-F238E27FC236}">
                  <a16:creationId xmlns:a16="http://schemas.microsoft.com/office/drawing/2014/main" id="{0140925E-46F7-0ADB-53BC-54CD26B60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95975" y="4419600"/>
              <a:ext cx="400050" cy="409575"/>
            </a:xfrm>
            <a:prstGeom prst="rect">
              <a:avLst/>
            </a:prstGeom>
          </p:spPr>
        </p:pic>
        <p:pic>
          <p:nvPicPr>
            <p:cNvPr id="13" name="Image 10" descr="preencoded.png">
              <a:extLst>
                <a:ext uri="{FF2B5EF4-FFF2-40B4-BE49-F238E27FC236}">
                  <a16:creationId xmlns:a16="http://schemas.microsoft.com/office/drawing/2014/main" id="{7A8987E5-61E9-59CD-D1CC-73CFC4230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5975" y="5105400"/>
              <a:ext cx="400050" cy="409575"/>
            </a:xfrm>
            <a:prstGeom prst="rect">
              <a:avLst/>
            </a:prstGeom>
          </p:spPr>
        </p:pic>
        <p:pic>
          <p:nvPicPr>
            <p:cNvPr id="14" name="Image 11" descr="preencoded.png">
              <a:extLst>
                <a:ext uri="{FF2B5EF4-FFF2-40B4-BE49-F238E27FC236}">
                  <a16:creationId xmlns:a16="http://schemas.microsoft.com/office/drawing/2014/main" id="{1D8391A2-9E86-8481-8F62-0B0E2B3DF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95975" y="5781675"/>
              <a:ext cx="400050" cy="40957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E6586AC-C047-DEB4-6BA4-FF8ECA4AF19A}"/>
                </a:ext>
              </a:extLst>
            </p:cNvPr>
            <p:cNvGrpSpPr/>
            <p:nvPr/>
          </p:nvGrpSpPr>
          <p:grpSpPr>
            <a:xfrm>
              <a:off x="1333500" y="981075"/>
              <a:ext cx="9525000" cy="5303044"/>
              <a:chOff x="1333500" y="981075"/>
              <a:chExt cx="9525000" cy="5303044"/>
            </a:xfrm>
          </p:grpSpPr>
          <p:pic>
            <p:nvPicPr>
              <p:cNvPr id="16" name="Image 3" descr="preencoded.png">
                <a:extLst>
                  <a:ext uri="{FF2B5EF4-FFF2-40B4-BE49-F238E27FC236}">
                    <a16:creationId xmlns:a16="http://schemas.microsoft.com/office/drawing/2014/main" id="{96761073-8F98-058E-2B2A-BB406C5F12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76950" y="981075"/>
                <a:ext cx="38100" cy="5248275"/>
              </a:xfrm>
              <a:prstGeom prst="rect">
                <a:avLst/>
              </a:prstGeom>
            </p:spPr>
          </p:pic>
          <p:sp>
            <p:nvSpPr>
              <p:cNvPr id="17" name="Text 2">
                <a:extLst>
                  <a:ext uri="{FF2B5EF4-FFF2-40B4-BE49-F238E27FC236}">
                    <a16:creationId xmlns:a16="http://schemas.microsoft.com/office/drawing/2014/main" id="{3AB898A0-8097-95E4-BF6C-1935ADE30289}"/>
                  </a:ext>
                </a:extLst>
              </p:cNvPr>
              <p:cNvSpPr/>
              <p:nvPr/>
            </p:nvSpPr>
            <p:spPr>
              <a:xfrm>
                <a:off x="1333500" y="995363"/>
                <a:ext cx="43815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6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Data cleaning &amp; feature engineering</a:t>
                </a:r>
                <a:endParaRPr lang="en-US" sz="1600" dirty="0"/>
              </a:p>
            </p:txBody>
          </p:sp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5F3B018E-2751-111D-012C-C349026A0A59}"/>
                  </a:ext>
                </a:extLst>
              </p:cNvPr>
              <p:cNvSpPr/>
              <p:nvPr/>
            </p:nvSpPr>
            <p:spPr>
              <a:xfrm>
                <a:off x="1333500" y="1331119"/>
                <a:ext cx="4381500" cy="185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200" dirty="0">
                    <a:solidFill>
                      <a:srgbClr val="36415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Preprocessing, scaling, encoding, and creating effective_study_time</a:t>
                </a:r>
                <a:endParaRPr lang="en-US" sz="1200" dirty="0"/>
              </a:p>
            </p:txBody>
          </p:sp>
          <p:sp>
            <p:nvSpPr>
              <p:cNvPr id="19" name="Text 4">
                <a:extLst>
                  <a:ext uri="{FF2B5EF4-FFF2-40B4-BE49-F238E27FC236}">
                    <a16:creationId xmlns:a16="http://schemas.microsoft.com/office/drawing/2014/main" id="{6FA1A4B7-B063-62AD-866B-9A7206A4BDDE}"/>
                  </a:ext>
                </a:extLst>
              </p:cNvPr>
              <p:cNvSpPr/>
              <p:nvPr/>
            </p:nvSpPr>
            <p:spPr>
              <a:xfrm>
                <a:off x="6057751" y="1126331"/>
                <a:ext cx="76349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</a:t>
                </a:r>
                <a:endParaRPr lang="en-US" sz="900" dirty="0"/>
              </a:p>
            </p:txBody>
          </p:sp>
          <p:sp>
            <p:nvSpPr>
              <p:cNvPr id="20" name="Text 5">
                <a:extLst>
                  <a:ext uri="{FF2B5EF4-FFF2-40B4-BE49-F238E27FC236}">
                    <a16:creationId xmlns:a16="http://schemas.microsoft.com/office/drawing/2014/main" id="{39398155-DE47-CDF4-B9EE-353274BAD884}"/>
                  </a:ext>
                </a:extLst>
              </p:cNvPr>
              <p:cNvSpPr/>
              <p:nvPr/>
            </p:nvSpPr>
            <p:spPr>
              <a:xfrm>
                <a:off x="6057751" y="1807369"/>
                <a:ext cx="76349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</a:t>
                </a:r>
                <a:endParaRPr lang="en-US" sz="900" dirty="0"/>
              </a:p>
            </p:txBody>
          </p:sp>
          <p:sp>
            <p:nvSpPr>
              <p:cNvPr id="21" name="Text 6">
                <a:extLst>
                  <a:ext uri="{FF2B5EF4-FFF2-40B4-BE49-F238E27FC236}">
                    <a16:creationId xmlns:a16="http://schemas.microsoft.com/office/drawing/2014/main" id="{2C5DCB15-310D-1429-D6F5-A02AC2CF5A42}"/>
                  </a:ext>
                </a:extLst>
              </p:cNvPr>
              <p:cNvSpPr/>
              <p:nvPr/>
            </p:nvSpPr>
            <p:spPr>
              <a:xfrm>
                <a:off x="6477000" y="1676400"/>
                <a:ext cx="43815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Feature selection</a:t>
                </a:r>
                <a:endParaRPr lang="en-US" sz="1600" dirty="0"/>
              </a:p>
            </p:txBody>
          </p:sp>
          <p:sp>
            <p:nvSpPr>
              <p:cNvPr id="22" name="Text 7">
                <a:extLst>
                  <a:ext uri="{FF2B5EF4-FFF2-40B4-BE49-F238E27FC236}">
                    <a16:creationId xmlns:a16="http://schemas.microsoft.com/office/drawing/2014/main" id="{6C65DD10-173B-22B7-0CBA-A6D55A86EF87}"/>
                  </a:ext>
                </a:extLst>
              </p:cNvPr>
              <p:cNvSpPr/>
              <p:nvPr/>
            </p:nvSpPr>
            <p:spPr>
              <a:xfrm>
                <a:off x="6477000" y="2012156"/>
                <a:ext cx="4381500" cy="185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36415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Identifying most predictive behavioral and demographic variables</a:t>
                </a:r>
                <a:endParaRPr lang="en-US" sz="1200" dirty="0"/>
              </a:p>
            </p:txBody>
          </p:sp>
          <p:sp>
            <p:nvSpPr>
              <p:cNvPr id="23" name="Text 8">
                <a:extLst>
                  <a:ext uri="{FF2B5EF4-FFF2-40B4-BE49-F238E27FC236}">
                    <a16:creationId xmlns:a16="http://schemas.microsoft.com/office/drawing/2014/main" id="{BBB7D5E3-9ACE-7133-511A-3572A8144C77}"/>
                  </a:ext>
                </a:extLst>
              </p:cNvPr>
              <p:cNvSpPr/>
              <p:nvPr/>
            </p:nvSpPr>
            <p:spPr>
              <a:xfrm>
                <a:off x="1333500" y="2357438"/>
                <a:ext cx="43815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6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KMeans clustering</a:t>
                </a:r>
                <a:endParaRPr lang="en-US" sz="1600" dirty="0"/>
              </a:p>
            </p:txBody>
          </p:sp>
          <p:sp>
            <p:nvSpPr>
              <p:cNvPr id="24" name="Text 9">
                <a:extLst>
                  <a:ext uri="{FF2B5EF4-FFF2-40B4-BE49-F238E27FC236}">
                    <a16:creationId xmlns:a16="http://schemas.microsoft.com/office/drawing/2014/main" id="{A4714970-99F2-ECA9-DEAA-5FE68ED1EF5E}"/>
                  </a:ext>
                </a:extLst>
              </p:cNvPr>
              <p:cNvSpPr/>
              <p:nvPr/>
            </p:nvSpPr>
            <p:spPr>
              <a:xfrm>
                <a:off x="1333500" y="2693193"/>
                <a:ext cx="4381500" cy="185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200" dirty="0">
                    <a:solidFill>
                      <a:srgbClr val="36415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Segmenting students into behavioral groups</a:t>
                </a:r>
                <a:endParaRPr lang="en-US" sz="1200" dirty="0"/>
              </a:p>
            </p:txBody>
          </p:sp>
          <p:sp>
            <p:nvSpPr>
              <p:cNvPr id="25" name="Text 10">
                <a:extLst>
                  <a:ext uri="{FF2B5EF4-FFF2-40B4-BE49-F238E27FC236}">
                    <a16:creationId xmlns:a16="http://schemas.microsoft.com/office/drawing/2014/main" id="{69FB37BD-A7B7-36DA-FD59-225748D785B6}"/>
                  </a:ext>
                </a:extLst>
              </p:cNvPr>
              <p:cNvSpPr/>
              <p:nvPr/>
            </p:nvSpPr>
            <p:spPr>
              <a:xfrm>
                <a:off x="6057751" y="2488406"/>
                <a:ext cx="76349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</a:t>
                </a:r>
                <a:endParaRPr lang="en-US" sz="900" dirty="0"/>
              </a:p>
            </p:txBody>
          </p:sp>
          <p:sp>
            <p:nvSpPr>
              <p:cNvPr id="26" name="Text 11">
                <a:extLst>
                  <a:ext uri="{FF2B5EF4-FFF2-40B4-BE49-F238E27FC236}">
                    <a16:creationId xmlns:a16="http://schemas.microsoft.com/office/drawing/2014/main" id="{007A57FC-F582-240B-9C8A-A2989438C132}"/>
                  </a:ext>
                </a:extLst>
              </p:cNvPr>
              <p:cNvSpPr/>
              <p:nvPr/>
            </p:nvSpPr>
            <p:spPr>
              <a:xfrm>
                <a:off x="6057751" y="3169444"/>
                <a:ext cx="76349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4</a:t>
                </a:r>
                <a:endParaRPr lang="en-US" sz="900" dirty="0"/>
              </a:p>
            </p:txBody>
          </p:sp>
          <p:sp>
            <p:nvSpPr>
              <p:cNvPr id="27" name="Text 12">
                <a:extLst>
                  <a:ext uri="{FF2B5EF4-FFF2-40B4-BE49-F238E27FC236}">
                    <a16:creationId xmlns:a16="http://schemas.microsoft.com/office/drawing/2014/main" id="{C564B2ED-C16F-7549-76D0-445F83DD832B}"/>
                  </a:ext>
                </a:extLst>
              </p:cNvPr>
              <p:cNvSpPr/>
              <p:nvPr/>
            </p:nvSpPr>
            <p:spPr>
              <a:xfrm>
                <a:off x="6477000" y="3038475"/>
                <a:ext cx="43815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Ensemble regression</a:t>
                </a:r>
                <a:endParaRPr lang="en-US" sz="1600" dirty="0"/>
              </a:p>
            </p:txBody>
          </p:sp>
          <p:sp>
            <p:nvSpPr>
              <p:cNvPr id="28" name="Text 13">
                <a:extLst>
                  <a:ext uri="{FF2B5EF4-FFF2-40B4-BE49-F238E27FC236}">
                    <a16:creationId xmlns:a16="http://schemas.microsoft.com/office/drawing/2014/main" id="{4A4C01DE-9A2B-C1F8-5ABF-5F1E4D1FE0A4}"/>
                  </a:ext>
                </a:extLst>
              </p:cNvPr>
              <p:cNvSpPr/>
              <p:nvPr/>
            </p:nvSpPr>
            <p:spPr>
              <a:xfrm>
                <a:off x="6477000" y="3374230"/>
                <a:ext cx="4381500" cy="185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36415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Training RF, GB, XGBoost to predict numerical scores</a:t>
                </a:r>
                <a:endParaRPr lang="en-US" sz="1200" dirty="0"/>
              </a:p>
            </p:txBody>
          </p:sp>
          <p:sp>
            <p:nvSpPr>
              <p:cNvPr id="29" name="Text 14">
                <a:extLst>
                  <a:ext uri="{FF2B5EF4-FFF2-40B4-BE49-F238E27FC236}">
                    <a16:creationId xmlns:a16="http://schemas.microsoft.com/office/drawing/2014/main" id="{9BA2D97A-257C-06F0-79DF-D9A3BF09B93F}"/>
                  </a:ext>
                </a:extLst>
              </p:cNvPr>
              <p:cNvSpPr/>
              <p:nvPr/>
            </p:nvSpPr>
            <p:spPr>
              <a:xfrm>
                <a:off x="1333500" y="3719512"/>
                <a:ext cx="43815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6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Hybrid classifier</a:t>
                </a:r>
                <a:endParaRPr lang="en-US" sz="1600" dirty="0"/>
              </a:p>
            </p:txBody>
          </p:sp>
          <p:sp>
            <p:nvSpPr>
              <p:cNvPr id="30" name="Text 15">
                <a:extLst>
                  <a:ext uri="{FF2B5EF4-FFF2-40B4-BE49-F238E27FC236}">
                    <a16:creationId xmlns:a16="http://schemas.microsoft.com/office/drawing/2014/main" id="{C9CEBA47-0C22-5EB2-3619-D3C30F0FD23F}"/>
                  </a:ext>
                </a:extLst>
              </p:cNvPr>
              <p:cNvSpPr/>
              <p:nvPr/>
            </p:nvSpPr>
            <p:spPr>
              <a:xfrm>
                <a:off x="1333500" y="4055269"/>
                <a:ext cx="4381500" cy="185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200" dirty="0">
                    <a:solidFill>
                      <a:srgbClr val="36415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Building grade classifier using predicted_score as input</a:t>
                </a:r>
                <a:endParaRPr lang="en-US" sz="1200" dirty="0"/>
              </a:p>
            </p:txBody>
          </p:sp>
          <p:sp>
            <p:nvSpPr>
              <p:cNvPr id="31" name="Text 16">
                <a:extLst>
                  <a:ext uri="{FF2B5EF4-FFF2-40B4-BE49-F238E27FC236}">
                    <a16:creationId xmlns:a16="http://schemas.microsoft.com/office/drawing/2014/main" id="{0DE2DB4F-5F2D-AD49-E129-0A25E17F12AB}"/>
                  </a:ext>
                </a:extLst>
              </p:cNvPr>
              <p:cNvSpPr/>
              <p:nvPr/>
            </p:nvSpPr>
            <p:spPr>
              <a:xfrm>
                <a:off x="6057751" y="3850481"/>
                <a:ext cx="76349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5</a:t>
                </a:r>
                <a:endParaRPr lang="en-US" sz="900" dirty="0"/>
              </a:p>
            </p:txBody>
          </p:sp>
          <p:sp>
            <p:nvSpPr>
              <p:cNvPr id="32" name="Text 17">
                <a:extLst>
                  <a:ext uri="{FF2B5EF4-FFF2-40B4-BE49-F238E27FC236}">
                    <a16:creationId xmlns:a16="http://schemas.microsoft.com/office/drawing/2014/main" id="{55AB1711-015C-95A1-3E87-C0E1274978A7}"/>
                  </a:ext>
                </a:extLst>
              </p:cNvPr>
              <p:cNvSpPr/>
              <p:nvPr/>
            </p:nvSpPr>
            <p:spPr>
              <a:xfrm>
                <a:off x="6057751" y="4531519"/>
                <a:ext cx="76349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6</a:t>
                </a:r>
                <a:endParaRPr lang="en-US" sz="900" dirty="0"/>
              </a:p>
            </p:txBody>
          </p:sp>
          <p:sp>
            <p:nvSpPr>
              <p:cNvPr id="33" name="Text 18">
                <a:extLst>
                  <a:ext uri="{FF2B5EF4-FFF2-40B4-BE49-F238E27FC236}">
                    <a16:creationId xmlns:a16="http://schemas.microsoft.com/office/drawing/2014/main" id="{5DCB26A9-BE2A-97A0-5898-D04340B8232C}"/>
                  </a:ext>
                </a:extLst>
              </p:cNvPr>
              <p:cNvSpPr/>
              <p:nvPr/>
            </p:nvSpPr>
            <p:spPr>
              <a:xfrm>
                <a:off x="6477000" y="4400550"/>
                <a:ext cx="43815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Ordinal boosting</a:t>
                </a:r>
                <a:endParaRPr lang="en-US" sz="1600" dirty="0"/>
              </a:p>
            </p:txBody>
          </p:sp>
          <p:sp>
            <p:nvSpPr>
              <p:cNvPr id="34" name="Text 19">
                <a:extLst>
                  <a:ext uri="{FF2B5EF4-FFF2-40B4-BE49-F238E27FC236}">
                    <a16:creationId xmlns:a16="http://schemas.microsoft.com/office/drawing/2014/main" id="{F5A43F7D-740E-B09C-630E-B80834C864E2}"/>
                  </a:ext>
                </a:extLst>
              </p:cNvPr>
              <p:cNvSpPr/>
              <p:nvPr/>
            </p:nvSpPr>
            <p:spPr>
              <a:xfrm>
                <a:off x="6477000" y="4736305"/>
                <a:ext cx="4381500" cy="185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36415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Implementing ordinal regression for grade ordering</a:t>
                </a:r>
                <a:endParaRPr lang="en-US" sz="1200" dirty="0"/>
              </a:p>
            </p:txBody>
          </p:sp>
          <p:sp>
            <p:nvSpPr>
              <p:cNvPr id="35" name="Text 20">
                <a:extLst>
                  <a:ext uri="{FF2B5EF4-FFF2-40B4-BE49-F238E27FC236}">
                    <a16:creationId xmlns:a16="http://schemas.microsoft.com/office/drawing/2014/main" id="{F8C8D341-A1EF-362E-B5F2-03DFA235591B}"/>
                  </a:ext>
                </a:extLst>
              </p:cNvPr>
              <p:cNvSpPr/>
              <p:nvPr/>
            </p:nvSpPr>
            <p:spPr>
              <a:xfrm>
                <a:off x="1333500" y="5081588"/>
                <a:ext cx="43815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6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Dashboard creation</a:t>
                </a:r>
                <a:endParaRPr lang="en-US" sz="1600" dirty="0"/>
              </a:p>
            </p:txBody>
          </p:sp>
          <p:sp>
            <p:nvSpPr>
              <p:cNvPr id="36" name="Text 21">
                <a:extLst>
                  <a:ext uri="{FF2B5EF4-FFF2-40B4-BE49-F238E27FC236}">
                    <a16:creationId xmlns:a16="http://schemas.microsoft.com/office/drawing/2014/main" id="{9A93A71B-504C-E148-7E7C-9CA5E54B73AF}"/>
                  </a:ext>
                </a:extLst>
              </p:cNvPr>
              <p:cNvSpPr/>
              <p:nvPr/>
            </p:nvSpPr>
            <p:spPr>
              <a:xfrm>
                <a:off x="1333500" y="5417343"/>
                <a:ext cx="4381500" cy="185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200" dirty="0">
                    <a:solidFill>
                      <a:srgbClr val="36415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Developing interactive visualization and alert system</a:t>
                </a:r>
                <a:endParaRPr lang="en-US" sz="1200" dirty="0"/>
              </a:p>
            </p:txBody>
          </p:sp>
          <p:sp>
            <p:nvSpPr>
              <p:cNvPr id="37" name="Text 22">
                <a:extLst>
                  <a:ext uri="{FF2B5EF4-FFF2-40B4-BE49-F238E27FC236}">
                    <a16:creationId xmlns:a16="http://schemas.microsoft.com/office/drawing/2014/main" id="{A2C1AB80-3329-5125-773B-B5C3F2A5D2D4}"/>
                  </a:ext>
                </a:extLst>
              </p:cNvPr>
              <p:cNvSpPr/>
              <p:nvPr/>
            </p:nvSpPr>
            <p:spPr>
              <a:xfrm>
                <a:off x="6057751" y="5212556"/>
                <a:ext cx="76349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7</a:t>
                </a:r>
                <a:endParaRPr lang="en-US" sz="900" dirty="0"/>
              </a:p>
            </p:txBody>
          </p:sp>
          <p:sp>
            <p:nvSpPr>
              <p:cNvPr id="38" name="Text 23">
                <a:extLst>
                  <a:ext uri="{FF2B5EF4-FFF2-40B4-BE49-F238E27FC236}">
                    <a16:creationId xmlns:a16="http://schemas.microsoft.com/office/drawing/2014/main" id="{1C6F4F7A-E7D0-67FC-3133-678D7AA9A2A8}"/>
                  </a:ext>
                </a:extLst>
              </p:cNvPr>
              <p:cNvSpPr/>
              <p:nvPr/>
            </p:nvSpPr>
            <p:spPr>
              <a:xfrm>
                <a:off x="6057751" y="5893594"/>
                <a:ext cx="76349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8</a:t>
                </a:r>
                <a:endParaRPr lang="en-US" sz="900" dirty="0"/>
              </a:p>
            </p:txBody>
          </p:sp>
          <p:sp>
            <p:nvSpPr>
              <p:cNvPr id="39" name="Text 24">
                <a:extLst>
                  <a:ext uri="{FF2B5EF4-FFF2-40B4-BE49-F238E27FC236}">
                    <a16:creationId xmlns:a16="http://schemas.microsoft.com/office/drawing/2014/main" id="{075A0B0A-9632-6F6A-0353-ADDE6AD9C060}"/>
                  </a:ext>
                </a:extLst>
              </p:cNvPr>
              <p:cNvSpPr/>
              <p:nvPr/>
            </p:nvSpPr>
            <p:spPr>
              <a:xfrm>
                <a:off x="6477000" y="5762625"/>
                <a:ext cx="43815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b="1" dirty="0">
                    <a:solidFill>
                      <a:srgbClr val="1018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SHAP &amp; visualization</a:t>
                </a:r>
                <a:endParaRPr lang="en-US" sz="1600" dirty="0"/>
              </a:p>
            </p:txBody>
          </p:sp>
          <p:sp>
            <p:nvSpPr>
              <p:cNvPr id="40" name="Text 25">
                <a:extLst>
                  <a:ext uri="{FF2B5EF4-FFF2-40B4-BE49-F238E27FC236}">
                    <a16:creationId xmlns:a16="http://schemas.microsoft.com/office/drawing/2014/main" id="{7C436F27-304B-9528-9574-C4FADD89104B}"/>
                  </a:ext>
                </a:extLst>
              </p:cNvPr>
              <p:cNvSpPr/>
              <p:nvPr/>
            </p:nvSpPr>
            <p:spPr>
              <a:xfrm>
                <a:off x="6477000" y="6098381"/>
                <a:ext cx="4381500" cy="185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36415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Generating explainability analysis and result charts</a:t>
                </a:r>
                <a:endParaRPr lang="en-US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8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43B46D-ECE8-3CA6-870A-BBDA8C8F89BA}"/>
              </a:ext>
            </a:extLst>
          </p:cNvPr>
          <p:cNvGrpSpPr/>
          <p:nvPr/>
        </p:nvGrpSpPr>
        <p:grpSpPr>
          <a:xfrm>
            <a:off x="4419538" y="1182721"/>
            <a:ext cx="4805021" cy="5473290"/>
            <a:chOff x="5667375" y="933450"/>
            <a:chExt cx="6248400" cy="5343525"/>
          </a:xfrm>
        </p:grpSpPr>
        <p:pic>
          <p:nvPicPr>
            <p:cNvPr id="40" name="Image 9" descr="preencoded.png">
              <a:extLst>
                <a:ext uri="{FF2B5EF4-FFF2-40B4-BE49-F238E27FC236}">
                  <a16:creationId xmlns:a16="http://schemas.microsoft.com/office/drawing/2014/main" id="{7A9A09DB-86BC-5FE1-177B-41A67323B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67375" y="933450"/>
              <a:ext cx="6248400" cy="5343525"/>
            </a:xfrm>
            <a:prstGeom prst="rect">
              <a:avLst/>
            </a:prstGeom>
          </p:spPr>
        </p:pic>
        <p:pic>
          <p:nvPicPr>
            <p:cNvPr id="41" name="Image 16" descr="preencoded.png">
              <a:extLst>
                <a:ext uri="{FF2B5EF4-FFF2-40B4-BE49-F238E27FC236}">
                  <a16:creationId xmlns:a16="http://schemas.microsoft.com/office/drawing/2014/main" id="{63AEC653-2FAA-3DA4-37C0-2AA6BA064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19975" y="1447800"/>
              <a:ext cx="2752725" cy="514350"/>
            </a:xfrm>
            <a:prstGeom prst="rect">
              <a:avLst/>
            </a:prstGeom>
          </p:spPr>
        </p:pic>
        <p:sp>
          <p:nvSpPr>
            <p:cNvPr id="42" name="Text 14">
              <a:extLst>
                <a:ext uri="{FF2B5EF4-FFF2-40B4-BE49-F238E27FC236}">
                  <a16:creationId xmlns:a16="http://schemas.microsoft.com/office/drawing/2014/main" id="{A777936E-3122-98A3-CF44-8884F9BAC79F}"/>
                </a:ext>
              </a:extLst>
            </p:cNvPr>
            <p:cNvSpPr/>
            <p:nvPr/>
          </p:nvSpPr>
          <p:spPr>
            <a:xfrm>
              <a:off x="7687568" y="1566863"/>
              <a:ext cx="2209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2F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Dataset</a:t>
              </a:r>
              <a:endParaRPr lang="en-US" sz="1100" dirty="0"/>
            </a:p>
          </p:txBody>
        </p:sp>
        <p:pic>
          <p:nvPicPr>
            <p:cNvPr id="43" name="Image 17" descr="preencoded.png">
              <a:extLst>
                <a:ext uri="{FF2B5EF4-FFF2-40B4-BE49-F238E27FC236}">
                  <a16:creationId xmlns:a16="http://schemas.microsoft.com/office/drawing/2014/main" id="{F5F87185-ABE1-2C96-CF46-72702A087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05850" y="1971675"/>
              <a:ext cx="171450" cy="219075"/>
            </a:xfrm>
            <a:prstGeom prst="rect">
              <a:avLst/>
            </a:prstGeom>
          </p:spPr>
        </p:pic>
        <p:pic>
          <p:nvPicPr>
            <p:cNvPr id="44" name="Image 18" descr="preencoded.png">
              <a:extLst>
                <a:ext uri="{FF2B5EF4-FFF2-40B4-BE49-F238E27FC236}">
                  <a16:creationId xmlns:a16="http://schemas.microsoft.com/office/drawing/2014/main" id="{B6EF24A8-0CF6-EB25-753E-4FDE4FA1A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19975" y="2209800"/>
              <a:ext cx="2752725" cy="514350"/>
            </a:xfrm>
            <a:prstGeom prst="rect">
              <a:avLst/>
            </a:prstGeom>
          </p:spPr>
        </p:pic>
        <p:sp>
          <p:nvSpPr>
            <p:cNvPr id="45" name="Text 15">
              <a:extLst>
                <a:ext uri="{FF2B5EF4-FFF2-40B4-BE49-F238E27FC236}">
                  <a16:creationId xmlns:a16="http://schemas.microsoft.com/office/drawing/2014/main" id="{FF5D40E6-7407-AEE7-2755-712EDCCD297B}"/>
                </a:ext>
              </a:extLst>
            </p:cNvPr>
            <p:cNvSpPr/>
            <p:nvPr/>
          </p:nvSpPr>
          <p:spPr>
            <a:xfrm>
              <a:off x="7687568" y="2328863"/>
              <a:ext cx="2209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2F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Preprocessing</a:t>
              </a:r>
              <a:endParaRPr lang="en-US" sz="1100" dirty="0"/>
            </a:p>
          </p:txBody>
        </p:sp>
        <p:pic>
          <p:nvPicPr>
            <p:cNvPr id="46" name="Image 19" descr="preencoded.png">
              <a:extLst>
                <a:ext uri="{FF2B5EF4-FFF2-40B4-BE49-F238E27FC236}">
                  <a16:creationId xmlns:a16="http://schemas.microsoft.com/office/drawing/2014/main" id="{E5395FEC-62AA-32A5-5EE8-C2C089824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05850" y="2733675"/>
              <a:ext cx="171450" cy="219075"/>
            </a:xfrm>
            <a:prstGeom prst="rect">
              <a:avLst/>
            </a:prstGeom>
          </p:spPr>
        </p:pic>
        <p:pic>
          <p:nvPicPr>
            <p:cNvPr id="47" name="Image 20" descr="preencoded.png">
              <a:extLst>
                <a:ext uri="{FF2B5EF4-FFF2-40B4-BE49-F238E27FC236}">
                  <a16:creationId xmlns:a16="http://schemas.microsoft.com/office/drawing/2014/main" id="{3C8A1EDB-E17E-14CA-445F-C2AF4133A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19975" y="2971800"/>
              <a:ext cx="2752725" cy="514350"/>
            </a:xfrm>
            <a:prstGeom prst="rect">
              <a:avLst/>
            </a:prstGeom>
          </p:spPr>
        </p:pic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AEBE316D-129D-CEBE-8FAF-4662C3FA883B}"/>
                </a:ext>
              </a:extLst>
            </p:cNvPr>
            <p:cNvSpPr/>
            <p:nvPr/>
          </p:nvSpPr>
          <p:spPr>
            <a:xfrm>
              <a:off x="7687568" y="3090863"/>
              <a:ext cx="2209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2F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Clustering</a:t>
              </a:r>
              <a:endParaRPr lang="en-US" sz="1100" dirty="0"/>
            </a:p>
          </p:txBody>
        </p:sp>
        <p:pic>
          <p:nvPicPr>
            <p:cNvPr id="49" name="Image 21" descr="preencoded.png">
              <a:extLst>
                <a:ext uri="{FF2B5EF4-FFF2-40B4-BE49-F238E27FC236}">
                  <a16:creationId xmlns:a16="http://schemas.microsoft.com/office/drawing/2014/main" id="{BDA6D1FC-7E2E-63FB-7668-1ECB99172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05850" y="3495675"/>
              <a:ext cx="171450" cy="219075"/>
            </a:xfrm>
            <a:prstGeom prst="rect">
              <a:avLst/>
            </a:prstGeom>
          </p:spPr>
        </p:pic>
        <p:pic>
          <p:nvPicPr>
            <p:cNvPr id="50" name="Image 22" descr="preencoded.png">
              <a:extLst>
                <a:ext uri="{FF2B5EF4-FFF2-40B4-BE49-F238E27FC236}">
                  <a16:creationId xmlns:a16="http://schemas.microsoft.com/office/drawing/2014/main" id="{76E74DE0-2FB4-A888-533B-01FC9B81F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9975" y="3733800"/>
              <a:ext cx="2752725" cy="514350"/>
            </a:xfrm>
            <a:prstGeom prst="rect">
              <a:avLst/>
            </a:prstGeom>
          </p:spPr>
        </p:pic>
        <p:sp>
          <p:nvSpPr>
            <p:cNvPr id="51" name="Text 17">
              <a:extLst>
                <a:ext uri="{FF2B5EF4-FFF2-40B4-BE49-F238E27FC236}">
                  <a16:creationId xmlns:a16="http://schemas.microsoft.com/office/drawing/2014/main" id="{6E508434-B9D1-718F-218F-B443803FB90A}"/>
                </a:ext>
              </a:extLst>
            </p:cNvPr>
            <p:cNvSpPr/>
            <p:nvPr/>
          </p:nvSpPr>
          <p:spPr>
            <a:xfrm>
              <a:off x="7687568" y="3852863"/>
              <a:ext cx="2209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2F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Regression Models</a:t>
              </a:r>
              <a:endParaRPr lang="en-US" sz="1100" dirty="0"/>
            </a:p>
          </p:txBody>
        </p:sp>
        <p:pic>
          <p:nvPicPr>
            <p:cNvPr id="52" name="Image 23" descr="preencoded.png">
              <a:extLst>
                <a:ext uri="{FF2B5EF4-FFF2-40B4-BE49-F238E27FC236}">
                  <a16:creationId xmlns:a16="http://schemas.microsoft.com/office/drawing/2014/main" id="{8111D3DC-301D-16BA-40EB-38806CE47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05850" y="4257675"/>
              <a:ext cx="171450" cy="219075"/>
            </a:xfrm>
            <a:prstGeom prst="rect">
              <a:avLst/>
            </a:prstGeom>
          </p:spPr>
        </p:pic>
        <p:pic>
          <p:nvPicPr>
            <p:cNvPr id="53" name="Image 24" descr="preencoded.png">
              <a:extLst>
                <a:ext uri="{FF2B5EF4-FFF2-40B4-BE49-F238E27FC236}">
                  <a16:creationId xmlns:a16="http://schemas.microsoft.com/office/drawing/2014/main" id="{EE0C6A71-7053-6C44-4D37-0887BEFFB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9975" y="4495800"/>
              <a:ext cx="2752725" cy="514350"/>
            </a:xfrm>
            <a:prstGeom prst="rect">
              <a:avLst/>
            </a:prstGeom>
          </p:spPr>
        </p:pic>
        <p:sp>
          <p:nvSpPr>
            <p:cNvPr id="54" name="Text 18">
              <a:extLst>
                <a:ext uri="{FF2B5EF4-FFF2-40B4-BE49-F238E27FC236}">
                  <a16:creationId xmlns:a16="http://schemas.microsoft.com/office/drawing/2014/main" id="{15A9AB88-67B8-2EAD-4B54-54B3641D4177}"/>
                </a:ext>
              </a:extLst>
            </p:cNvPr>
            <p:cNvSpPr/>
            <p:nvPr/>
          </p:nvSpPr>
          <p:spPr>
            <a:xfrm>
              <a:off x="7687568" y="4614863"/>
              <a:ext cx="2209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2F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Classifier</a:t>
              </a:r>
              <a:endParaRPr lang="en-US" sz="1100" dirty="0"/>
            </a:p>
          </p:txBody>
        </p:sp>
        <p:pic>
          <p:nvPicPr>
            <p:cNvPr id="55" name="Image 25" descr="preencoded.png">
              <a:extLst>
                <a:ext uri="{FF2B5EF4-FFF2-40B4-BE49-F238E27FC236}">
                  <a16:creationId xmlns:a16="http://schemas.microsoft.com/office/drawing/2014/main" id="{D1430AA6-6A4B-651A-1BE0-B012440E8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05850" y="5019675"/>
              <a:ext cx="171450" cy="219075"/>
            </a:xfrm>
            <a:prstGeom prst="rect">
              <a:avLst/>
            </a:prstGeom>
          </p:spPr>
        </p:pic>
        <p:pic>
          <p:nvPicPr>
            <p:cNvPr id="56" name="Image 26" descr="preencoded.png">
              <a:extLst>
                <a:ext uri="{FF2B5EF4-FFF2-40B4-BE49-F238E27FC236}">
                  <a16:creationId xmlns:a16="http://schemas.microsoft.com/office/drawing/2014/main" id="{195D48DC-E572-9AD4-5767-8819807CF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19975" y="5257800"/>
              <a:ext cx="2752725" cy="514350"/>
            </a:xfrm>
            <a:prstGeom prst="rect">
              <a:avLst/>
            </a:prstGeom>
          </p:spPr>
        </p:pic>
        <p:sp>
          <p:nvSpPr>
            <p:cNvPr id="57" name="Text 19">
              <a:extLst>
                <a:ext uri="{FF2B5EF4-FFF2-40B4-BE49-F238E27FC236}">
                  <a16:creationId xmlns:a16="http://schemas.microsoft.com/office/drawing/2014/main" id="{63849D49-DC6A-A4B7-55DF-475AE5B1455B}"/>
                </a:ext>
              </a:extLst>
            </p:cNvPr>
            <p:cNvSpPr/>
            <p:nvPr/>
          </p:nvSpPr>
          <p:spPr>
            <a:xfrm>
              <a:off x="7687568" y="5376863"/>
              <a:ext cx="2209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Grades / Alerts</a:t>
              </a:r>
              <a:endParaRPr lang="en-US" sz="11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304F6FB-E14D-4466-0F1B-EF4F7866AC9C}"/>
              </a:ext>
            </a:extLst>
          </p:cNvPr>
          <p:cNvGrpSpPr/>
          <p:nvPr/>
        </p:nvGrpSpPr>
        <p:grpSpPr>
          <a:xfrm>
            <a:off x="72008" y="1777741"/>
            <a:ext cx="5689330" cy="3967278"/>
            <a:chOff x="276225" y="1828800"/>
            <a:chExt cx="5097661" cy="3543300"/>
          </a:xfrm>
        </p:grpSpPr>
        <p:pic>
          <p:nvPicPr>
            <p:cNvPr id="3" name="Image 3" descr="preencoded.png">
              <a:extLst>
                <a:ext uri="{FF2B5EF4-FFF2-40B4-BE49-F238E27FC236}">
                  <a16:creationId xmlns:a16="http://schemas.microsoft.com/office/drawing/2014/main" id="{B9501951-6336-3A06-6C2D-21AB940E5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76225" y="1828800"/>
              <a:ext cx="400050" cy="400050"/>
            </a:xfrm>
            <a:prstGeom prst="rect">
              <a:avLst/>
            </a:prstGeom>
          </p:spPr>
        </p:pic>
        <p:pic>
          <p:nvPicPr>
            <p:cNvPr id="8" name="Image 4" descr="preencoded.png">
              <a:extLst>
                <a:ext uri="{FF2B5EF4-FFF2-40B4-BE49-F238E27FC236}">
                  <a16:creationId xmlns:a16="http://schemas.microsoft.com/office/drawing/2014/main" id="{2CAB0459-AB7E-FB34-1C3D-E132BE9BD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6225" y="2371725"/>
              <a:ext cx="400050" cy="409575"/>
            </a:xfrm>
            <a:prstGeom prst="rect">
              <a:avLst/>
            </a:prstGeom>
          </p:spPr>
        </p:pic>
        <p:pic>
          <p:nvPicPr>
            <p:cNvPr id="10" name="Image 5" descr="preencoded.png">
              <a:extLst>
                <a:ext uri="{FF2B5EF4-FFF2-40B4-BE49-F238E27FC236}">
                  <a16:creationId xmlns:a16="http://schemas.microsoft.com/office/drawing/2014/main" id="{2D382B61-2B97-3F23-2FA1-EF3D995A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76225" y="3095625"/>
              <a:ext cx="400050" cy="409575"/>
            </a:xfrm>
            <a:prstGeom prst="rect">
              <a:avLst/>
            </a:prstGeom>
          </p:spPr>
        </p:pic>
        <p:pic>
          <p:nvPicPr>
            <p:cNvPr id="11" name="Image 6" descr="preencoded.png">
              <a:extLst>
                <a:ext uri="{FF2B5EF4-FFF2-40B4-BE49-F238E27FC236}">
                  <a16:creationId xmlns:a16="http://schemas.microsoft.com/office/drawing/2014/main" id="{B44DF325-D630-543B-1D0D-2C3E0DFDF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76225" y="3648075"/>
              <a:ext cx="400050" cy="409575"/>
            </a:xfrm>
            <a:prstGeom prst="rect">
              <a:avLst/>
            </a:prstGeom>
          </p:spPr>
        </p:pic>
        <p:pic>
          <p:nvPicPr>
            <p:cNvPr id="12" name="Image 7" descr="preencoded.png">
              <a:extLst>
                <a:ext uri="{FF2B5EF4-FFF2-40B4-BE49-F238E27FC236}">
                  <a16:creationId xmlns:a16="http://schemas.microsoft.com/office/drawing/2014/main" id="{29242937-2E46-AF4A-55C4-09F6F67B9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76225" y="4371975"/>
              <a:ext cx="400050" cy="409575"/>
            </a:xfrm>
            <a:prstGeom prst="rect">
              <a:avLst/>
            </a:prstGeom>
          </p:spPr>
        </p:pic>
        <p:pic>
          <p:nvPicPr>
            <p:cNvPr id="13" name="Image 8" descr="preencoded.png">
              <a:extLst>
                <a:ext uri="{FF2B5EF4-FFF2-40B4-BE49-F238E27FC236}">
                  <a16:creationId xmlns:a16="http://schemas.microsoft.com/office/drawing/2014/main" id="{18ED24C4-54C6-D51D-B40B-19E1C3FE9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76225" y="4924425"/>
              <a:ext cx="400050" cy="409575"/>
            </a:xfrm>
            <a:prstGeom prst="rect">
              <a:avLst/>
            </a:prstGeom>
          </p:spPr>
        </p:pic>
        <p:pic>
          <p:nvPicPr>
            <p:cNvPr id="14" name="Image 10" descr="preencoded.png">
              <a:extLst>
                <a:ext uri="{FF2B5EF4-FFF2-40B4-BE49-F238E27FC236}">
                  <a16:creationId xmlns:a16="http://schemas.microsoft.com/office/drawing/2014/main" id="{D43AF538-3374-FAE0-CBD7-A7EACF406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90525" y="1933575"/>
              <a:ext cx="171450" cy="190500"/>
            </a:xfrm>
            <a:prstGeom prst="rect">
              <a:avLst/>
            </a:prstGeom>
          </p:spPr>
        </p:pic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C93893B1-18FA-88AE-AD6A-CA3C57F3A8E9}"/>
                </a:ext>
              </a:extLst>
            </p:cNvPr>
            <p:cNvSpPr/>
            <p:nvPr/>
          </p:nvSpPr>
          <p:spPr>
            <a:xfrm>
              <a:off x="819150" y="1838325"/>
              <a:ext cx="38379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Dataset</a:t>
              </a:r>
              <a:endParaRPr lang="en-US" sz="1400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86F24019-4FA2-F92A-8893-21DE721CD14F}"/>
                </a:ext>
              </a:extLst>
            </p:cNvPr>
            <p:cNvSpPr/>
            <p:nvPr/>
          </p:nvSpPr>
          <p:spPr>
            <a:xfrm>
              <a:off x="819150" y="2105025"/>
              <a:ext cx="3837980" cy="1702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6415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15,000 student records with behavioral and demographic features</a:t>
              </a:r>
              <a:endParaRPr lang="en-US" sz="1200" dirty="0"/>
            </a:p>
          </p:txBody>
        </p:sp>
        <p:pic>
          <p:nvPicPr>
            <p:cNvPr id="17" name="Image 11" descr="preencoded.png">
              <a:extLst>
                <a:ext uri="{FF2B5EF4-FFF2-40B4-BE49-F238E27FC236}">
                  <a16:creationId xmlns:a16="http://schemas.microsoft.com/office/drawing/2014/main" id="{C53D9BA1-3E8D-0C15-5B4F-A8D5BD843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52425" y="2476500"/>
              <a:ext cx="247650" cy="200025"/>
            </a:xfrm>
            <a:prstGeom prst="rect">
              <a:avLst/>
            </a:prstGeom>
          </p:spPr>
        </p:pic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5F73959D-DF59-FB53-4DE0-371DCFA88861}"/>
                </a:ext>
              </a:extLst>
            </p:cNvPr>
            <p:cNvSpPr/>
            <p:nvPr/>
          </p:nvSpPr>
          <p:spPr>
            <a:xfrm>
              <a:off x="819150" y="2389584"/>
              <a:ext cx="455473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Preprocessing</a:t>
              </a:r>
              <a:endParaRPr lang="en-US" sz="1400"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E70C5C25-8490-5FB9-DFCE-955DB05DBC62}"/>
                </a:ext>
              </a:extLst>
            </p:cNvPr>
            <p:cNvSpPr/>
            <p:nvPr/>
          </p:nvSpPr>
          <p:spPr>
            <a:xfrm>
              <a:off x="819150" y="2656284"/>
              <a:ext cx="4554736" cy="34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6415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Scaling numerical features, encoding categorical variables, feature engineering</a:t>
              </a:r>
              <a:endParaRPr lang="en-US" sz="1200" dirty="0"/>
            </a:p>
          </p:txBody>
        </p:sp>
        <p:pic>
          <p:nvPicPr>
            <p:cNvPr id="20" name="Image 12" descr="preencoded.png">
              <a:extLst>
                <a:ext uri="{FF2B5EF4-FFF2-40B4-BE49-F238E27FC236}">
                  <a16:creationId xmlns:a16="http://schemas.microsoft.com/office/drawing/2014/main" id="{3F1BB547-1C19-48CE-37C3-047C969CF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71475" y="3200400"/>
              <a:ext cx="209550" cy="200025"/>
            </a:xfrm>
            <a:prstGeom prst="rect">
              <a:avLst/>
            </a:prstGeom>
          </p:spPr>
        </p:pic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74E9BC1B-8427-C651-97F4-C7B41198FD03}"/>
                </a:ext>
              </a:extLst>
            </p:cNvPr>
            <p:cNvSpPr/>
            <p:nvPr/>
          </p:nvSpPr>
          <p:spPr>
            <a:xfrm>
              <a:off x="819150" y="3111103"/>
              <a:ext cx="33377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Clustering</a:t>
              </a:r>
              <a:endParaRPr lang="en-US" sz="1400" dirty="0"/>
            </a:p>
          </p:txBody>
        </p:sp>
        <p:sp>
          <p:nvSpPr>
            <p:cNvPr id="22" name="Text 7">
              <a:extLst>
                <a:ext uri="{FF2B5EF4-FFF2-40B4-BE49-F238E27FC236}">
                  <a16:creationId xmlns:a16="http://schemas.microsoft.com/office/drawing/2014/main" id="{791B27EE-1F87-727B-3523-E7041E61CE80}"/>
                </a:ext>
              </a:extLst>
            </p:cNvPr>
            <p:cNvSpPr/>
            <p:nvPr/>
          </p:nvSpPr>
          <p:spPr>
            <a:xfrm>
              <a:off x="819150" y="3377803"/>
              <a:ext cx="3337768" cy="1702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6415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KMeans algorithm to identify student behavioral patterns</a:t>
              </a:r>
              <a:endParaRPr lang="en-US" sz="1200" dirty="0"/>
            </a:p>
          </p:txBody>
        </p:sp>
        <p:pic>
          <p:nvPicPr>
            <p:cNvPr id="23" name="Image 13" descr="preencoded.png">
              <a:extLst>
                <a:ext uri="{FF2B5EF4-FFF2-40B4-BE49-F238E27FC236}">
                  <a16:creationId xmlns:a16="http://schemas.microsoft.com/office/drawing/2014/main" id="{5EB76617-0D77-6ED1-16C6-90FB44900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52425" y="3752850"/>
              <a:ext cx="247650" cy="200025"/>
            </a:xfrm>
            <a:prstGeom prst="rect">
              <a:avLst/>
            </a:prstGeom>
          </p:spPr>
        </p:pic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63B4E258-AC4F-BEE0-1A17-3437F56106BD}"/>
                </a:ext>
              </a:extLst>
            </p:cNvPr>
            <p:cNvSpPr/>
            <p:nvPr/>
          </p:nvSpPr>
          <p:spPr>
            <a:xfrm>
              <a:off x="819150" y="3662362"/>
              <a:ext cx="455473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Modeling pipeline</a:t>
              </a:r>
              <a:endParaRPr lang="en-US" sz="1400" dirty="0"/>
            </a:p>
          </p:txBody>
        </p:sp>
        <p:sp>
          <p:nvSpPr>
            <p:cNvPr id="25" name="Text 9">
              <a:extLst>
                <a:ext uri="{FF2B5EF4-FFF2-40B4-BE49-F238E27FC236}">
                  <a16:creationId xmlns:a16="http://schemas.microsoft.com/office/drawing/2014/main" id="{3AEE58C2-C715-61CC-1E83-3A5C92D6C853}"/>
                </a:ext>
              </a:extLst>
            </p:cNvPr>
            <p:cNvSpPr/>
            <p:nvPr/>
          </p:nvSpPr>
          <p:spPr>
            <a:xfrm>
              <a:off x="819150" y="3929063"/>
              <a:ext cx="4554736" cy="34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6415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Ensemble Regression → Predicted Score → Hybrid Classifier → Ordinal Boosting</a:t>
              </a:r>
              <a:endParaRPr lang="en-US" sz="1200" dirty="0"/>
            </a:p>
          </p:txBody>
        </p:sp>
        <p:pic>
          <p:nvPicPr>
            <p:cNvPr id="26" name="Image 14" descr="preencoded.png">
              <a:extLst>
                <a:ext uri="{FF2B5EF4-FFF2-40B4-BE49-F238E27FC236}">
                  <a16:creationId xmlns:a16="http://schemas.microsoft.com/office/drawing/2014/main" id="{B034B8C2-4215-A8AC-0114-1071B265C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81000" y="4476750"/>
              <a:ext cx="190500" cy="200025"/>
            </a:xfrm>
            <a:prstGeom prst="rect">
              <a:avLst/>
            </a:prstGeom>
          </p:spPr>
        </p:pic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3C168BCA-F624-70FE-6769-32D838BF738F}"/>
                </a:ext>
              </a:extLst>
            </p:cNvPr>
            <p:cNvSpPr/>
            <p:nvPr/>
          </p:nvSpPr>
          <p:spPr>
            <a:xfrm>
              <a:off x="819150" y="4383881"/>
              <a:ext cx="23940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Evaluation</a:t>
              </a:r>
              <a:endParaRPr lang="en-US" sz="1400" dirty="0"/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11C465FB-E0DC-A912-1FE7-5916CA15A14C}"/>
                </a:ext>
              </a:extLst>
            </p:cNvPr>
            <p:cNvSpPr/>
            <p:nvPr/>
          </p:nvSpPr>
          <p:spPr>
            <a:xfrm>
              <a:off x="819150" y="4650581"/>
              <a:ext cx="2394049" cy="1702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6415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80/20 train-test split with cross-validation</a:t>
              </a:r>
              <a:endParaRPr lang="en-US" sz="1200" dirty="0"/>
            </a:p>
          </p:txBody>
        </p:sp>
        <p:pic>
          <p:nvPicPr>
            <p:cNvPr id="29" name="Image 15" descr="preencoded.png">
              <a:extLst>
                <a:ext uri="{FF2B5EF4-FFF2-40B4-BE49-F238E27FC236}">
                  <a16:creationId xmlns:a16="http://schemas.microsoft.com/office/drawing/2014/main" id="{8D0366F9-4FAE-A6C3-A52C-F028A47DC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81000" y="5029200"/>
              <a:ext cx="190500" cy="200025"/>
            </a:xfrm>
            <a:prstGeom prst="rect">
              <a:avLst/>
            </a:prstGeom>
          </p:spPr>
        </p:pic>
        <p:sp>
          <p:nvSpPr>
            <p:cNvPr id="30" name="Text 12">
              <a:extLst>
                <a:ext uri="{FF2B5EF4-FFF2-40B4-BE49-F238E27FC236}">
                  <a16:creationId xmlns:a16="http://schemas.microsoft.com/office/drawing/2014/main" id="{23A13A62-A0B6-2082-D603-23C2BAADF841}"/>
                </a:ext>
              </a:extLst>
            </p:cNvPr>
            <p:cNvSpPr/>
            <p:nvPr/>
          </p:nvSpPr>
          <p:spPr>
            <a:xfrm>
              <a:off x="819150" y="4935141"/>
              <a:ext cx="38847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Output</a:t>
              </a:r>
              <a:endParaRPr lang="en-US" sz="1400" dirty="0"/>
            </a:p>
          </p:txBody>
        </p:sp>
        <p:sp>
          <p:nvSpPr>
            <p:cNvPr id="31" name="Text 13">
              <a:extLst>
                <a:ext uri="{FF2B5EF4-FFF2-40B4-BE49-F238E27FC236}">
                  <a16:creationId xmlns:a16="http://schemas.microsoft.com/office/drawing/2014/main" id="{98E5E20E-D7FD-0348-B5C8-1E1C6FFCCE00}"/>
                </a:ext>
              </a:extLst>
            </p:cNvPr>
            <p:cNvSpPr/>
            <p:nvPr/>
          </p:nvSpPr>
          <p:spPr>
            <a:xfrm>
              <a:off x="819150" y="5201841"/>
              <a:ext cx="3884712" cy="1702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6415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Six-class grades (A-F) + risk levels + personalized recommendations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D0BEBF-445B-BE7B-3FF6-A71A2B5873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D99BE3-426F-2CA4-D765-F3B82E949183}"/>
              </a:ext>
            </a:extLst>
          </p:cNvPr>
          <p:cNvGrpSpPr/>
          <p:nvPr/>
        </p:nvGrpSpPr>
        <p:grpSpPr>
          <a:xfrm>
            <a:off x="155104" y="1575352"/>
            <a:ext cx="3408784" cy="3221800"/>
            <a:chOff x="428625" y="2228850"/>
            <a:chExt cx="3249513" cy="2734568"/>
          </a:xfrm>
        </p:grpSpPr>
        <p:pic>
          <p:nvPicPr>
            <p:cNvPr id="3" name="Image 3" descr="preencoded.png">
              <a:extLst>
                <a:ext uri="{FF2B5EF4-FFF2-40B4-BE49-F238E27FC236}">
                  <a16:creationId xmlns:a16="http://schemas.microsoft.com/office/drawing/2014/main" id="{53864F01-7754-B5B3-99A8-9C06AE2B7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625" y="2228850"/>
              <a:ext cx="476250" cy="57150"/>
            </a:xfrm>
            <a:prstGeom prst="rect">
              <a:avLst/>
            </a:prstGeom>
          </p:spPr>
        </p:pic>
        <p:pic>
          <p:nvPicPr>
            <p:cNvPr id="10" name="Image 4" descr="preencoded.png">
              <a:extLst>
                <a:ext uri="{FF2B5EF4-FFF2-40B4-BE49-F238E27FC236}">
                  <a16:creationId xmlns:a16="http://schemas.microsoft.com/office/drawing/2014/main" id="{10C03AD0-2F57-B6D4-1901-360F3F85A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8625" y="4171950"/>
              <a:ext cx="171450" cy="180975"/>
            </a:xfrm>
            <a:prstGeom prst="rect">
              <a:avLst/>
            </a:prstGeom>
          </p:spPr>
        </p:pic>
        <p:pic>
          <p:nvPicPr>
            <p:cNvPr id="11" name="Image 5" descr="preencoded.png">
              <a:extLst>
                <a:ext uri="{FF2B5EF4-FFF2-40B4-BE49-F238E27FC236}">
                  <a16:creationId xmlns:a16="http://schemas.microsoft.com/office/drawing/2014/main" id="{A92F07FC-A524-7798-F1F8-FB20D0011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8625" y="4476750"/>
              <a:ext cx="171450" cy="180975"/>
            </a:xfrm>
            <a:prstGeom prst="rect">
              <a:avLst/>
            </a:prstGeom>
          </p:spPr>
        </p:pic>
        <p:pic>
          <p:nvPicPr>
            <p:cNvPr id="12" name="Image 6" descr="preencoded.png">
              <a:extLst>
                <a:ext uri="{FF2B5EF4-FFF2-40B4-BE49-F238E27FC236}">
                  <a16:creationId xmlns:a16="http://schemas.microsoft.com/office/drawing/2014/main" id="{BA937128-A7C4-A1A4-AACC-BF2D0A018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8625" y="4781550"/>
              <a:ext cx="171450" cy="180975"/>
            </a:xfrm>
            <a:prstGeom prst="rect">
              <a:avLst/>
            </a:prstGeom>
          </p:spPr>
        </p:pic>
        <p:sp>
          <p:nvSpPr>
            <p:cNvPr id="13" name="Text 2">
              <a:extLst>
                <a:ext uri="{FF2B5EF4-FFF2-40B4-BE49-F238E27FC236}">
                  <a16:creationId xmlns:a16="http://schemas.microsoft.com/office/drawing/2014/main" id="{B8272BE6-DF22-3888-5296-9B9ECB38AD77}"/>
                </a:ext>
              </a:extLst>
            </p:cNvPr>
            <p:cNvSpPr/>
            <p:nvPr/>
          </p:nvSpPr>
          <p:spPr>
            <a:xfrm>
              <a:off x="438150" y="2504182"/>
              <a:ext cx="3239988" cy="7923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End-to-end automated prediction system</a:t>
              </a:r>
              <a:endParaRPr lang="en-US" sz="2200" dirty="0"/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9D4BA565-3FA6-5FE7-9FF0-9D78F01BDA41}"/>
                </a:ext>
              </a:extLst>
            </p:cNvPr>
            <p:cNvSpPr/>
            <p:nvPr/>
          </p:nvSpPr>
          <p:spPr>
            <a:xfrm>
              <a:off x="438150" y="3448943"/>
              <a:ext cx="3239988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From raw data to actionable insights.</a:t>
              </a:r>
              <a:endParaRPr lang="en-US" sz="1200" dirty="0"/>
            </a:p>
          </p:txBody>
        </p:sp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3480B4D3-6D8C-8503-F453-5DA04B35EA79}"/>
                </a:ext>
              </a:extLst>
            </p:cNvPr>
            <p:cNvSpPr/>
            <p:nvPr/>
          </p:nvSpPr>
          <p:spPr>
            <a:xfrm>
              <a:off x="704850" y="4163318"/>
              <a:ext cx="747117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6415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Stages</a:t>
              </a:r>
              <a:endParaRPr lang="en-US" sz="900" dirty="0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DE0E7746-66C1-A57E-AEB6-62A4CB5DAFEE}"/>
                </a:ext>
              </a:extLst>
            </p:cNvPr>
            <p:cNvSpPr/>
            <p:nvPr/>
          </p:nvSpPr>
          <p:spPr>
            <a:xfrm>
              <a:off x="704850" y="4468118"/>
              <a:ext cx="104402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6415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Modeling Stages</a:t>
              </a:r>
              <a:endParaRPr lang="en-US" sz="900" dirty="0"/>
            </a:p>
          </p:txBody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84573D24-2D03-1AED-2F44-62056BAF6086}"/>
                </a:ext>
              </a:extLst>
            </p:cNvPr>
            <p:cNvSpPr/>
            <p:nvPr/>
          </p:nvSpPr>
          <p:spPr>
            <a:xfrm>
              <a:off x="704850" y="4772918"/>
              <a:ext cx="8992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6415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Output Stages</a:t>
              </a:r>
              <a:endParaRPr lang="en-US" sz="9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D378731-ABF4-C0EA-578E-E384FBAA5F47}"/>
              </a:ext>
            </a:extLst>
          </p:cNvPr>
          <p:cNvGrpSpPr/>
          <p:nvPr/>
        </p:nvGrpSpPr>
        <p:grpSpPr>
          <a:xfrm>
            <a:off x="3347864" y="1685924"/>
            <a:ext cx="5641032" cy="3975320"/>
            <a:chOff x="4257675" y="1819275"/>
            <a:chExt cx="7372350" cy="3581400"/>
          </a:xfrm>
        </p:grpSpPr>
        <p:pic>
          <p:nvPicPr>
            <p:cNvPr id="19" name="Image 8" descr="preencoded.png">
              <a:extLst>
                <a:ext uri="{FF2B5EF4-FFF2-40B4-BE49-F238E27FC236}">
                  <a16:creationId xmlns:a16="http://schemas.microsoft.com/office/drawing/2014/main" id="{1C466F5E-79E5-8981-7F5C-3C4A609A0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57675" y="1819275"/>
              <a:ext cx="2085975" cy="952500"/>
            </a:xfrm>
            <a:prstGeom prst="rect">
              <a:avLst/>
            </a:prstGeom>
          </p:spPr>
        </p:pic>
        <p:pic>
          <p:nvPicPr>
            <p:cNvPr id="20" name="Image 9" descr="preencoded.png">
              <a:extLst>
                <a:ext uri="{FF2B5EF4-FFF2-40B4-BE49-F238E27FC236}">
                  <a16:creationId xmlns:a16="http://schemas.microsoft.com/office/drawing/2014/main" id="{C44C69AC-835D-C2D8-085B-559130AD5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05625" y="1819275"/>
              <a:ext cx="2085975" cy="952500"/>
            </a:xfrm>
            <a:prstGeom prst="rect">
              <a:avLst/>
            </a:prstGeom>
          </p:spPr>
        </p:pic>
        <p:pic>
          <p:nvPicPr>
            <p:cNvPr id="21" name="Image 10" descr="preencoded.png">
              <a:extLst>
                <a:ext uri="{FF2B5EF4-FFF2-40B4-BE49-F238E27FC236}">
                  <a16:creationId xmlns:a16="http://schemas.microsoft.com/office/drawing/2014/main" id="{1E693B51-3A3E-4DE8-C06F-E973F283F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553575" y="1819275"/>
              <a:ext cx="2076450" cy="952500"/>
            </a:xfrm>
            <a:prstGeom prst="rect">
              <a:avLst/>
            </a:prstGeom>
          </p:spPr>
        </p:pic>
        <p:pic>
          <p:nvPicPr>
            <p:cNvPr id="22" name="Image 11" descr="preencoded.png">
              <a:extLst>
                <a:ext uri="{FF2B5EF4-FFF2-40B4-BE49-F238E27FC236}">
                  <a16:creationId xmlns:a16="http://schemas.microsoft.com/office/drawing/2014/main" id="{2815D804-5318-EF47-FC65-17345ED36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553575" y="3133725"/>
              <a:ext cx="2076450" cy="952500"/>
            </a:xfrm>
            <a:prstGeom prst="rect">
              <a:avLst/>
            </a:prstGeom>
          </p:spPr>
        </p:pic>
        <p:pic>
          <p:nvPicPr>
            <p:cNvPr id="23" name="Image 12" descr="preencoded.png">
              <a:extLst>
                <a:ext uri="{FF2B5EF4-FFF2-40B4-BE49-F238E27FC236}">
                  <a16:creationId xmlns:a16="http://schemas.microsoft.com/office/drawing/2014/main" id="{C6F38CA1-7F8F-5046-78D2-72A1F71AD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05625" y="3133725"/>
              <a:ext cx="2085975" cy="952500"/>
            </a:xfrm>
            <a:prstGeom prst="rect">
              <a:avLst/>
            </a:prstGeom>
          </p:spPr>
        </p:pic>
        <p:pic>
          <p:nvPicPr>
            <p:cNvPr id="24" name="Image 13" descr="preencoded.png">
              <a:extLst>
                <a:ext uri="{FF2B5EF4-FFF2-40B4-BE49-F238E27FC236}">
                  <a16:creationId xmlns:a16="http://schemas.microsoft.com/office/drawing/2014/main" id="{1D4E9ABF-0707-8BCD-FFCC-5259E5B00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7675" y="3133725"/>
              <a:ext cx="2085975" cy="952500"/>
            </a:xfrm>
            <a:prstGeom prst="rect">
              <a:avLst/>
            </a:prstGeom>
          </p:spPr>
        </p:pic>
        <p:pic>
          <p:nvPicPr>
            <p:cNvPr id="25" name="Image 14" descr="preencoded.png">
              <a:extLst>
                <a:ext uri="{FF2B5EF4-FFF2-40B4-BE49-F238E27FC236}">
                  <a16:creationId xmlns:a16="http://schemas.microsoft.com/office/drawing/2014/main" id="{BA31B0DE-F345-D3EF-5AAB-1B4442225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7675" y="4448175"/>
              <a:ext cx="2085975" cy="952500"/>
            </a:xfrm>
            <a:prstGeom prst="rect">
              <a:avLst/>
            </a:prstGeom>
          </p:spPr>
        </p:pic>
        <p:pic>
          <p:nvPicPr>
            <p:cNvPr id="26" name="Image 15" descr="preencoded.png">
              <a:extLst>
                <a:ext uri="{FF2B5EF4-FFF2-40B4-BE49-F238E27FC236}">
                  <a16:creationId xmlns:a16="http://schemas.microsoft.com/office/drawing/2014/main" id="{CE1A3CE9-7F56-6965-6FE9-D47857BE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05625" y="4448175"/>
              <a:ext cx="2085975" cy="952500"/>
            </a:xfrm>
            <a:prstGeom prst="rect">
              <a:avLst/>
            </a:prstGeom>
          </p:spPr>
        </p:pic>
        <p:pic>
          <p:nvPicPr>
            <p:cNvPr id="27" name="Image 16" descr="preencoded.png">
              <a:extLst>
                <a:ext uri="{FF2B5EF4-FFF2-40B4-BE49-F238E27FC236}">
                  <a16:creationId xmlns:a16="http://schemas.microsoft.com/office/drawing/2014/main" id="{81782009-335A-FE0D-82D7-04A2E206A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553575" y="4448175"/>
              <a:ext cx="2076450" cy="952500"/>
            </a:xfrm>
            <a:prstGeom prst="rect">
              <a:avLst/>
            </a:prstGeom>
          </p:spPr>
        </p:pic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BDC0108C-C27F-6EC6-4825-C21BDC4CE1C7}"/>
                </a:ext>
              </a:extLst>
            </p:cNvPr>
            <p:cNvSpPr/>
            <p:nvPr/>
          </p:nvSpPr>
          <p:spPr>
            <a:xfrm>
              <a:off x="4957167" y="2183606"/>
              <a:ext cx="680442" cy="214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2F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Raw Data</a:t>
              </a:r>
              <a:endParaRPr lang="en-US" sz="1400" dirty="0"/>
            </a:p>
          </p:txBody>
        </p:sp>
        <p:pic>
          <p:nvPicPr>
            <p:cNvPr id="29" name="Image 17" descr="preencoded.png">
              <a:extLst>
                <a:ext uri="{FF2B5EF4-FFF2-40B4-BE49-F238E27FC236}">
                  <a16:creationId xmlns:a16="http://schemas.microsoft.com/office/drawing/2014/main" id="{4A9EEE8E-41B4-BEDE-EA2E-A4644A34F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505575" y="2162175"/>
              <a:ext cx="228600" cy="257175"/>
            </a:xfrm>
            <a:prstGeom prst="rect">
              <a:avLst/>
            </a:prstGeom>
          </p:spPr>
        </p:pic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88A8DE84-48C7-BBA1-098C-1CCD773CEE01}"/>
                </a:ext>
              </a:extLst>
            </p:cNvPr>
            <p:cNvSpPr/>
            <p:nvPr/>
          </p:nvSpPr>
          <p:spPr>
            <a:xfrm>
              <a:off x="7442299" y="2183606"/>
              <a:ext cx="1004590" cy="214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2F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Cleaning</a:t>
              </a:r>
              <a:endParaRPr lang="en-US" sz="1400" dirty="0"/>
            </a:p>
          </p:txBody>
        </p:sp>
        <p:pic>
          <p:nvPicPr>
            <p:cNvPr id="31" name="Image 18" descr="preencoded.png">
              <a:extLst>
                <a:ext uri="{FF2B5EF4-FFF2-40B4-BE49-F238E27FC236}">
                  <a16:creationId xmlns:a16="http://schemas.microsoft.com/office/drawing/2014/main" id="{5705C455-D11E-2CB8-8289-E2A8A76FC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153525" y="2162175"/>
              <a:ext cx="228600" cy="257175"/>
            </a:xfrm>
            <a:prstGeom prst="rect">
              <a:avLst/>
            </a:prstGeom>
          </p:spPr>
        </p:pic>
        <p:sp>
          <p:nvSpPr>
            <p:cNvPr id="32" name="Text 9">
              <a:extLst>
                <a:ext uri="{FF2B5EF4-FFF2-40B4-BE49-F238E27FC236}">
                  <a16:creationId xmlns:a16="http://schemas.microsoft.com/office/drawing/2014/main" id="{14D74F1A-6DC5-1127-DF5C-00F5906ECB29}"/>
                </a:ext>
              </a:extLst>
            </p:cNvPr>
            <p:cNvSpPr/>
            <p:nvPr/>
          </p:nvSpPr>
          <p:spPr>
            <a:xfrm>
              <a:off x="9865668" y="2183606"/>
              <a:ext cx="1452116" cy="214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2F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Feature Engineering</a:t>
              </a:r>
              <a:endParaRPr lang="en-US" sz="1400" dirty="0"/>
            </a:p>
          </p:txBody>
        </p:sp>
        <p:pic>
          <p:nvPicPr>
            <p:cNvPr id="33" name="Image 19" descr="preencoded.png">
              <a:extLst>
                <a:ext uri="{FF2B5EF4-FFF2-40B4-BE49-F238E27FC236}">
                  <a16:creationId xmlns:a16="http://schemas.microsoft.com/office/drawing/2014/main" id="{24CF012D-C862-820B-5B38-EB06634E4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525125" y="2819400"/>
              <a:ext cx="190500" cy="257175"/>
            </a:xfrm>
            <a:prstGeom prst="rect">
              <a:avLst/>
            </a:prstGeom>
          </p:spPr>
        </p:pic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1D5592A8-B802-E09F-1EDA-3E9CC6530A26}"/>
                </a:ext>
              </a:extLst>
            </p:cNvPr>
            <p:cNvSpPr/>
            <p:nvPr/>
          </p:nvSpPr>
          <p:spPr>
            <a:xfrm>
              <a:off x="9921180" y="3498056"/>
              <a:ext cx="1341090" cy="214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KMeans Clustering</a:t>
              </a:r>
              <a:endParaRPr lang="en-US" sz="1400" dirty="0"/>
            </a:p>
          </p:txBody>
        </p:sp>
        <p:pic>
          <p:nvPicPr>
            <p:cNvPr id="35" name="Image 20" descr="preencoded.png">
              <a:extLst>
                <a:ext uri="{FF2B5EF4-FFF2-40B4-BE49-F238E27FC236}">
                  <a16:creationId xmlns:a16="http://schemas.microsoft.com/office/drawing/2014/main" id="{5ABEEFE1-0145-BAE7-44C6-6F971834F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153525" y="3476625"/>
              <a:ext cx="228600" cy="257175"/>
            </a:xfrm>
            <a:prstGeom prst="rect">
              <a:avLst/>
            </a:prstGeom>
          </p:spPr>
        </p:pic>
        <p:sp>
          <p:nvSpPr>
            <p:cNvPr id="36" name="Text 11">
              <a:extLst>
                <a:ext uri="{FF2B5EF4-FFF2-40B4-BE49-F238E27FC236}">
                  <a16:creationId xmlns:a16="http://schemas.microsoft.com/office/drawing/2014/main" id="{7673F20E-E560-768B-70EF-081BE409DD3A}"/>
                </a:ext>
              </a:extLst>
            </p:cNvPr>
            <p:cNvSpPr/>
            <p:nvPr/>
          </p:nvSpPr>
          <p:spPr>
            <a:xfrm>
              <a:off x="7190184" y="3418284"/>
              <a:ext cx="1508820" cy="1785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Ensemble Regression</a:t>
              </a:r>
              <a:endParaRPr lang="en-US" sz="1400" dirty="0"/>
            </a:p>
          </p:txBody>
        </p:sp>
        <p:sp>
          <p:nvSpPr>
            <p:cNvPr id="37" name="Text 12">
              <a:extLst>
                <a:ext uri="{FF2B5EF4-FFF2-40B4-BE49-F238E27FC236}">
                  <a16:creationId xmlns:a16="http://schemas.microsoft.com/office/drawing/2014/main" id="{EB17E156-39FE-0B9A-FEF7-85A7610BD658}"/>
                </a:ext>
              </a:extLst>
            </p:cNvPr>
            <p:cNvSpPr/>
            <p:nvPr/>
          </p:nvSpPr>
          <p:spPr>
            <a:xfrm>
              <a:off x="7442299" y="3795477"/>
              <a:ext cx="974229" cy="1571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3F4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(RF + GB + XGBoost)</a:t>
              </a:r>
              <a:endParaRPr lang="en-US" sz="1000" dirty="0"/>
            </a:p>
          </p:txBody>
        </p:sp>
        <p:pic>
          <p:nvPicPr>
            <p:cNvPr id="38" name="Image 21" descr="preencoded.png">
              <a:extLst>
                <a:ext uri="{FF2B5EF4-FFF2-40B4-BE49-F238E27FC236}">
                  <a16:creationId xmlns:a16="http://schemas.microsoft.com/office/drawing/2014/main" id="{A6CB5492-BF85-0C31-884A-D6437A27A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505575" y="3476625"/>
              <a:ext cx="228600" cy="257175"/>
            </a:xfrm>
            <a:prstGeom prst="rect">
              <a:avLst/>
            </a:prstGeom>
          </p:spPr>
        </p:pic>
        <p:sp>
          <p:nvSpPr>
            <p:cNvPr id="39" name="Text 13">
              <a:extLst>
                <a:ext uri="{FF2B5EF4-FFF2-40B4-BE49-F238E27FC236}">
                  <a16:creationId xmlns:a16="http://schemas.microsoft.com/office/drawing/2014/main" id="{31191165-961B-CC52-BF02-497EDA20042E}"/>
                </a:ext>
              </a:extLst>
            </p:cNvPr>
            <p:cNvSpPr/>
            <p:nvPr/>
          </p:nvSpPr>
          <p:spPr>
            <a:xfrm>
              <a:off x="4711452" y="3498056"/>
              <a:ext cx="1171873" cy="214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Hybrid Classifier</a:t>
              </a:r>
              <a:endParaRPr lang="en-US" sz="1400" dirty="0"/>
            </a:p>
          </p:txBody>
        </p:sp>
        <p:pic>
          <p:nvPicPr>
            <p:cNvPr id="40" name="Image 22" descr="preencoded.png">
              <a:extLst>
                <a:ext uri="{FF2B5EF4-FFF2-40B4-BE49-F238E27FC236}">
                  <a16:creationId xmlns:a16="http://schemas.microsoft.com/office/drawing/2014/main" id="{89AB0CDA-D3A3-253A-4847-0B3273DF9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172075" y="4133850"/>
              <a:ext cx="200025" cy="257175"/>
            </a:xfrm>
            <a:prstGeom prst="rect">
              <a:avLst/>
            </a:prstGeom>
          </p:spPr>
        </p:pic>
        <p:sp>
          <p:nvSpPr>
            <p:cNvPr id="41" name="Text 14">
              <a:extLst>
                <a:ext uri="{FF2B5EF4-FFF2-40B4-BE49-F238E27FC236}">
                  <a16:creationId xmlns:a16="http://schemas.microsoft.com/office/drawing/2014/main" id="{056FCB4C-AC5E-4989-05FB-8C4CB0D982AA}"/>
                </a:ext>
              </a:extLst>
            </p:cNvPr>
            <p:cNvSpPr/>
            <p:nvPr/>
          </p:nvSpPr>
          <p:spPr>
            <a:xfrm>
              <a:off x="4695081" y="4812506"/>
              <a:ext cx="1204466" cy="214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Ordinal Boosting</a:t>
              </a:r>
              <a:endParaRPr lang="en-US" sz="1400" dirty="0"/>
            </a:p>
          </p:txBody>
        </p:sp>
        <p:pic>
          <p:nvPicPr>
            <p:cNvPr id="42" name="Image 23" descr="preencoded.png">
              <a:extLst>
                <a:ext uri="{FF2B5EF4-FFF2-40B4-BE49-F238E27FC236}">
                  <a16:creationId xmlns:a16="http://schemas.microsoft.com/office/drawing/2014/main" id="{63373BFA-FEAC-82F1-93AF-FB15C360B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505575" y="4791075"/>
              <a:ext cx="228600" cy="257175"/>
            </a:xfrm>
            <a:prstGeom prst="rect">
              <a:avLst/>
            </a:prstGeom>
          </p:spPr>
        </p:pic>
        <p:sp>
          <p:nvSpPr>
            <p:cNvPr id="43" name="Text 15">
              <a:extLst>
                <a:ext uri="{FF2B5EF4-FFF2-40B4-BE49-F238E27FC236}">
                  <a16:creationId xmlns:a16="http://schemas.microsoft.com/office/drawing/2014/main" id="{37158F71-95B7-56A8-76EF-687CD2B5C54A}"/>
                </a:ext>
              </a:extLst>
            </p:cNvPr>
            <p:cNvSpPr/>
            <p:nvPr/>
          </p:nvSpPr>
          <p:spPr>
            <a:xfrm>
              <a:off x="7370266" y="4812506"/>
              <a:ext cx="1148655" cy="214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Six-Class Grades</a:t>
              </a:r>
              <a:endParaRPr lang="en-US" sz="1400" dirty="0"/>
            </a:p>
          </p:txBody>
        </p:sp>
        <p:pic>
          <p:nvPicPr>
            <p:cNvPr id="44" name="Image 24" descr="preencoded.png">
              <a:extLst>
                <a:ext uri="{FF2B5EF4-FFF2-40B4-BE49-F238E27FC236}">
                  <a16:creationId xmlns:a16="http://schemas.microsoft.com/office/drawing/2014/main" id="{F62C04EB-C649-FBC6-ABA7-C2A21FCB5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153525" y="4791075"/>
              <a:ext cx="228600" cy="257175"/>
            </a:xfrm>
            <a:prstGeom prst="rect">
              <a:avLst/>
            </a:prstGeom>
          </p:spPr>
        </p:pic>
        <p:sp>
          <p:nvSpPr>
            <p:cNvPr id="45" name="Text 16">
              <a:extLst>
                <a:ext uri="{FF2B5EF4-FFF2-40B4-BE49-F238E27FC236}">
                  <a16:creationId xmlns:a16="http://schemas.microsoft.com/office/drawing/2014/main" id="{159E1657-7068-28B7-A622-C51D5A0B1149}"/>
                </a:ext>
              </a:extLst>
            </p:cNvPr>
            <p:cNvSpPr/>
            <p:nvPr/>
          </p:nvSpPr>
          <p:spPr>
            <a:xfrm>
              <a:off x="9725025" y="4643438"/>
              <a:ext cx="1733550" cy="3571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Early-Warning Dashboard</a:t>
              </a:r>
              <a:endParaRPr lang="en-US" sz="1400" dirty="0"/>
            </a:p>
          </p:txBody>
        </p:sp>
        <p:sp>
          <p:nvSpPr>
            <p:cNvPr id="46" name="Text 17">
              <a:extLst>
                <a:ext uri="{FF2B5EF4-FFF2-40B4-BE49-F238E27FC236}">
                  <a16:creationId xmlns:a16="http://schemas.microsoft.com/office/drawing/2014/main" id="{94054982-B025-B919-9E73-A9B5D29F0DEB}"/>
                </a:ext>
              </a:extLst>
            </p:cNvPr>
            <p:cNvSpPr/>
            <p:nvPr/>
          </p:nvSpPr>
          <p:spPr>
            <a:xfrm>
              <a:off x="9777486" y="5064303"/>
              <a:ext cx="1628476" cy="1571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E5E7E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(Risk Levels + Recommendations)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359023" y="127529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7069117-65D6-F40E-A0C5-7E8435D0EB4B}"/>
              </a:ext>
            </a:extLst>
          </p:cNvPr>
          <p:cNvGrpSpPr/>
          <p:nvPr/>
        </p:nvGrpSpPr>
        <p:grpSpPr>
          <a:xfrm>
            <a:off x="72009" y="1182721"/>
            <a:ext cx="9071991" cy="5020149"/>
            <a:chOff x="276225" y="1009650"/>
            <a:chExt cx="11668125" cy="5267325"/>
          </a:xfrm>
        </p:grpSpPr>
        <p:pic>
          <p:nvPicPr>
            <p:cNvPr id="3" name="Image 3" descr="preencoded.png">
              <a:extLst>
                <a:ext uri="{FF2B5EF4-FFF2-40B4-BE49-F238E27FC236}">
                  <a16:creationId xmlns:a16="http://schemas.microsoft.com/office/drawing/2014/main" id="{6346DDB6-9F5B-B355-5B37-DF13D59CE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225" y="1009650"/>
              <a:ext cx="11639550" cy="257175"/>
            </a:xfrm>
            <a:prstGeom prst="rect">
              <a:avLst/>
            </a:prstGeom>
          </p:spPr>
        </p:pic>
        <p:pic>
          <p:nvPicPr>
            <p:cNvPr id="8" name="Image 4" descr="preencoded.png">
              <a:extLst>
                <a:ext uri="{FF2B5EF4-FFF2-40B4-BE49-F238E27FC236}">
                  <a16:creationId xmlns:a16="http://schemas.microsoft.com/office/drawing/2014/main" id="{FBC21CEA-ECCD-6AFC-2ED1-9B09A4F2E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14650" y="1371600"/>
              <a:ext cx="1866900" cy="390525"/>
            </a:xfrm>
            <a:prstGeom prst="rect">
              <a:avLst/>
            </a:prstGeom>
          </p:spPr>
        </p:pic>
        <p:pic>
          <p:nvPicPr>
            <p:cNvPr id="10" name="Image 5" descr="preencoded.png">
              <a:extLst>
                <a:ext uri="{FF2B5EF4-FFF2-40B4-BE49-F238E27FC236}">
                  <a16:creationId xmlns:a16="http://schemas.microsoft.com/office/drawing/2014/main" id="{252ACDEF-4FF5-0F2B-2A96-7855DCCF1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05350" y="1790700"/>
              <a:ext cx="971550" cy="390525"/>
            </a:xfrm>
            <a:prstGeom prst="rect">
              <a:avLst/>
            </a:prstGeom>
          </p:spPr>
        </p:pic>
        <p:pic>
          <p:nvPicPr>
            <p:cNvPr id="12" name="Image 6" descr="preencoded.png">
              <a:extLst>
                <a:ext uri="{FF2B5EF4-FFF2-40B4-BE49-F238E27FC236}">
                  <a16:creationId xmlns:a16="http://schemas.microsoft.com/office/drawing/2014/main" id="{76B2D6C9-9788-8094-C9AD-5B0646DB4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600700" y="2209800"/>
              <a:ext cx="971550" cy="390525"/>
            </a:xfrm>
            <a:prstGeom prst="rect">
              <a:avLst/>
            </a:prstGeom>
          </p:spPr>
        </p:pic>
        <p:pic>
          <p:nvPicPr>
            <p:cNvPr id="13" name="Image 7" descr="preencoded.png">
              <a:extLst>
                <a:ext uri="{FF2B5EF4-FFF2-40B4-BE49-F238E27FC236}">
                  <a16:creationId xmlns:a16="http://schemas.microsoft.com/office/drawing/2014/main" id="{E0D3B1B7-868D-DF47-87EE-3EBE8C786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96050" y="2628900"/>
              <a:ext cx="971550" cy="390525"/>
            </a:xfrm>
            <a:prstGeom prst="rect">
              <a:avLst/>
            </a:prstGeom>
          </p:spPr>
        </p:pic>
        <p:pic>
          <p:nvPicPr>
            <p:cNvPr id="14" name="Image 8" descr="preencoded.png">
              <a:extLst>
                <a:ext uri="{FF2B5EF4-FFF2-40B4-BE49-F238E27FC236}">
                  <a16:creationId xmlns:a16="http://schemas.microsoft.com/office/drawing/2014/main" id="{7DAA3B9E-F088-9EC5-B870-8312E0DC1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391400" y="3048000"/>
              <a:ext cx="971550" cy="390525"/>
            </a:xfrm>
            <a:prstGeom prst="rect">
              <a:avLst/>
            </a:prstGeom>
          </p:spPr>
        </p:pic>
        <p:pic>
          <p:nvPicPr>
            <p:cNvPr id="15" name="Image 9" descr="preencoded.png">
              <a:extLst>
                <a:ext uri="{FF2B5EF4-FFF2-40B4-BE49-F238E27FC236}">
                  <a16:creationId xmlns:a16="http://schemas.microsoft.com/office/drawing/2014/main" id="{BF02243F-6643-E04F-DBEE-2A483E4B4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286750" y="3467100"/>
              <a:ext cx="971550" cy="390525"/>
            </a:xfrm>
            <a:prstGeom prst="rect">
              <a:avLst/>
            </a:prstGeom>
          </p:spPr>
        </p:pic>
        <p:pic>
          <p:nvPicPr>
            <p:cNvPr id="16" name="Image 10" descr="preencoded.png">
              <a:extLst>
                <a:ext uri="{FF2B5EF4-FFF2-40B4-BE49-F238E27FC236}">
                  <a16:creationId xmlns:a16="http://schemas.microsoft.com/office/drawing/2014/main" id="{7F980C60-B39D-7E66-D680-61285FF7C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182100" y="3886200"/>
              <a:ext cx="971550" cy="390525"/>
            </a:xfrm>
            <a:prstGeom prst="rect">
              <a:avLst/>
            </a:prstGeom>
          </p:spPr>
        </p:pic>
        <p:pic>
          <p:nvPicPr>
            <p:cNvPr id="17" name="Image 11" descr="preencoded.png">
              <a:extLst>
                <a:ext uri="{FF2B5EF4-FFF2-40B4-BE49-F238E27FC236}">
                  <a16:creationId xmlns:a16="http://schemas.microsoft.com/office/drawing/2014/main" id="{7E238511-935D-2AB5-6726-048D047A3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077450" y="4305300"/>
              <a:ext cx="971550" cy="390525"/>
            </a:xfrm>
            <a:prstGeom prst="rect">
              <a:avLst/>
            </a:prstGeom>
          </p:spPr>
        </p:pic>
        <p:pic>
          <p:nvPicPr>
            <p:cNvPr id="18" name="Image 12" descr="preencoded.png">
              <a:extLst>
                <a:ext uri="{FF2B5EF4-FFF2-40B4-BE49-F238E27FC236}">
                  <a16:creationId xmlns:a16="http://schemas.microsoft.com/office/drawing/2014/main" id="{7161F560-C8DA-7495-3AC9-21AC5E673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972800" y="4724400"/>
              <a:ext cx="971550" cy="390525"/>
            </a:xfrm>
            <a:prstGeom prst="rect">
              <a:avLst/>
            </a:prstGeom>
          </p:spPr>
        </p:pic>
        <p:pic>
          <p:nvPicPr>
            <p:cNvPr id="19" name="Image 13" descr="preencoded.png">
              <a:extLst>
                <a:ext uri="{FF2B5EF4-FFF2-40B4-BE49-F238E27FC236}">
                  <a16:creationId xmlns:a16="http://schemas.microsoft.com/office/drawing/2014/main" id="{594B9819-34E9-37FF-DA84-18996B1C8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76225" y="5610225"/>
              <a:ext cx="11639550" cy="666750"/>
            </a:xfrm>
            <a:prstGeom prst="rect">
              <a:avLst/>
            </a:prstGeom>
          </p:spPr>
        </p:pic>
        <p:pic>
          <p:nvPicPr>
            <p:cNvPr id="20" name="Image 14" descr="preencoded.png">
              <a:extLst>
                <a:ext uri="{FF2B5EF4-FFF2-40B4-BE49-F238E27FC236}">
                  <a16:creationId xmlns:a16="http://schemas.microsoft.com/office/drawing/2014/main" id="{E2CEBAE8-1093-4C1B-38E6-8F7A48D30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76225" y="5905500"/>
              <a:ext cx="76200" cy="104775"/>
            </a:xfrm>
            <a:prstGeom prst="rect">
              <a:avLst/>
            </a:prstGeom>
          </p:spPr>
        </p:pic>
        <p:pic>
          <p:nvPicPr>
            <p:cNvPr id="21" name="Image 15" descr="preencoded.png">
              <a:extLst>
                <a:ext uri="{FF2B5EF4-FFF2-40B4-BE49-F238E27FC236}">
                  <a16:creationId xmlns:a16="http://schemas.microsoft.com/office/drawing/2014/main" id="{121A9B8E-8C2A-FAAB-ECF5-BE42711BF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238875" y="5905500"/>
              <a:ext cx="85725" cy="104775"/>
            </a:xfrm>
            <a:prstGeom prst="rect">
              <a:avLst/>
            </a:prstGeom>
          </p:spPr>
        </p:pic>
        <p:sp>
          <p:nvSpPr>
            <p:cNvPr id="22" name="Text 2">
              <a:extLst>
                <a:ext uri="{FF2B5EF4-FFF2-40B4-BE49-F238E27FC236}">
                  <a16:creationId xmlns:a16="http://schemas.microsoft.com/office/drawing/2014/main" id="{1E8734BA-A0D4-4C1C-0652-789F97BDF71B}"/>
                </a:ext>
              </a:extLst>
            </p:cNvPr>
            <p:cNvSpPr/>
            <p:nvPr/>
          </p:nvSpPr>
          <p:spPr>
            <a:xfrm>
              <a:off x="285750" y="1019175"/>
              <a:ext cx="2667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99A1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</a:t>
              </a:r>
              <a:endParaRPr lang="en-US" sz="1100" dirty="0"/>
            </a:p>
          </p:txBody>
        </p:sp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027BE6B5-466F-755D-A37F-123900A2A115}"/>
                </a:ext>
              </a:extLst>
            </p:cNvPr>
            <p:cNvSpPr/>
            <p:nvPr/>
          </p:nvSpPr>
          <p:spPr>
            <a:xfrm>
              <a:off x="2952750" y="1019175"/>
              <a:ext cx="8953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99A1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W1</a:t>
              </a:r>
              <a:endParaRPr lang="en-US" sz="800" dirty="0"/>
            </a:p>
          </p:txBody>
        </p:sp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060E3CC7-81C9-FD17-3276-C70DF582EEE0}"/>
                </a:ext>
              </a:extLst>
            </p:cNvPr>
            <p:cNvSpPr/>
            <p:nvPr/>
          </p:nvSpPr>
          <p:spPr>
            <a:xfrm>
              <a:off x="3848100" y="1019175"/>
              <a:ext cx="8953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99A1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W2</a:t>
              </a:r>
              <a:endParaRPr lang="en-US" sz="800" dirty="0"/>
            </a:p>
          </p:txBody>
        </p:sp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3D2FFB32-E7E2-DC83-8CF9-24947A7CDDA5}"/>
                </a:ext>
              </a:extLst>
            </p:cNvPr>
            <p:cNvSpPr/>
            <p:nvPr/>
          </p:nvSpPr>
          <p:spPr>
            <a:xfrm>
              <a:off x="4743450" y="1019175"/>
              <a:ext cx="8953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99A1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W3</a:t>
              </a:r>
              <a:endParaRPr lang="en-US" sz="800" dirty="0"/>
            </a:p>
          </p:txBody>
        </p:sp>
        <p:sp>
          <p:nvSpPr>
            <p:cNvPr id="26" name="Text 6">
              <a:extLst>
                <a:ext uri="{FF2B5EF4-FFF2-40B4-BE49-F238E27FC236}">
                  <a16:creationId xmlns:a16="http://schemas.microsoft.com/office/drawing/2014/main" id="{EC352457-558A-6B5D-1CA7-793816779C5D}"/>
                </a:ext>
              </a:extLst>
            </p:cNvPr>
            <p:cNvSpPr/>
            <p:nvPr/>
          </p:nvSpPr>
          <p:spPr>
            <a:xfrm>
              <a:off x="5638800" y="1019175"/>
              <a:ext cx="8953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99A1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W4</a:t>
              </a:r>
              <a:endParaRPr lang="en-US" sz="800" dirty="0"/>
            </a:p>
          </p:txBody>
        </p: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24CAE346-CE0A-0A44-D03A-A6ED109DBABA}"/>
                </a:ext>
              </a:extLst>
            </p:cNvPr>
            <p:cNvSpPr/>
            <p:nvPr/>
          </p:nvSpPr>
          <p:spPr>
            <a:xfrm>
              <a:off x="6534150" y="1019175"/>
              <a:ext cx="8953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99A1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W5</a:t>
              </a:r>
              <a:endParaRPr lang="en-US" sz="800" dirty="0"/>
            </a:p>
          </p:txBody>
        </p:sp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81894DD0-2B56-7DAD-DB2C-AE389C56C19A}"/>
                </a:ext>
              </a:extLst>
            </p:cNvPr>
            <p:cNvSpPr/>
            <p:nvPr/>
          </p:nvSpPr>
          <p:spPr>
            <a:xfrm>
              <a:off x="7429500" y="1019175"/>
              <a:ext cx="8953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99A1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W6</a:t>
              </a:r>
              <a:endParaRPr lang="en-US" sz="800" dirty="0"/>
            </a:p>
          </p:txBody>
        </p:sp>
        <p:sp>
          <p:nvSpPr>
            <p:cNvPr id="29" name="Text 9">
              <a:extLst>
                <a:ext uri="{FF2B5EF4-FFF2-40B4-BE49-F238E27FC236}">
                  <a16:creationId xmlns:a16="http://schemas.microsoft.com/office/drawing/2014/main" id="{EC2C06DD-1675-23B8-AC3D-1CE351161122}"/>
                </a:ext>
              </a:extLst>
            </p:cNvPr>
            <p:cNvSpPr/>
            <p:nvPr/>
          </p:nvSpPr>
          <p:spPr>
            <a:xfrm>
              <a:off x="8324850" y="1019175"/>
              <a:ext cx="8953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99A1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W7</a:t>
              </a:r>
              <a:endParaRPr lang="en-US" sz="800" dirty="0"/>
            </a:p>
          </p:txBody>
        </p:sp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531D0FAD-DB44-FEB5-B0D9-59F1C69C5FFF}"/>
                </a:ext>
              </a:extLst>
            </p:cNvPr>
            <p:cNvSpPr/>
            <p:nvPr/>
          </p:nvSpPr>
          <p:spPr>
            <a:xfrm>
              <a:off x="9220200" y="1019175"/>
              <a:ext cx="8953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99A1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W8</a:t>
              </a:r>
              <a:endParaRPr lang="en-US" sz="800" dirty="0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91A1C99B-462E-2DE3-BB91-924338025E15}"/>
                </a:ext>
              </a:extLst>
            </p:cNvPr>
            <p:cNvSpPr/>
            <p:nvPr/>
          </p:nvSpPr>
          <p:spPr>
            <a:xfrm>
              <a:off x="10115550" y="1019175"/>
              <a:ext cx="8953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99A1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W9</a:t>
              </a:r>
              <a:endParaRPr lang="en-US" sz="800" dirty="0"/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AF436801-ABD1-0236-157B-DC30703B458A}"/>
                </a:ext>
              </a:extLst>
            </p:cNvPr>
            <p:cNvSpPr/>
            <p:nvPr/>
          </p:nvSpPr>
          <p:spPr>
            <a:xfrm>
              <a:off x="11010900" y="1019175"/>
              <a:ext cx="8953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99A1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W10</a:t>
              </a:r>
              <a:endParaRPr lang="en-US" sz="800" dirty="0"/>
            </a:p>
          </p:txBody>
        </p:sp>
        <p:sp>
          <p:nvSpPr>
            <p:cNvPr id="33" name="Text 13">
              <a:extLst>
                <a:ext uri="{FF2B5EF4-FFF2-40B4-BE49-F238E27FC236}">
                  <a16:creationId xmlns:a16="http://schemas.microsoft.com/office/drawing/2014/main" id="{B382FAFE-D4AB-97D7-330F-3A3C221BDCEA}"/>
                </a:ext>
              </a:extLst>
            </p:cNvPr>
            <p:cNvSpPr/>
            <p:nvPr/>
          </p:nvSpPr>
          <p:spPr>
            <a:xfrm>
              <a:off x="285750" y="1469231"/>
              <a:ext cx="2514600" cy="1857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collection, cleaning, and analysis</a:t>
              </a:r>
              <a:endParaRPr lang="en-US" sz="1050" dirty="0"/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A430E2A3-E3EC-7142-B41B-73B7914D9B82}"/>
                </a:ext>
              </a:extLst>
            </p:cNvPr>
            <p:cNvSpPr/>
            <p:nvPr/>
          </p:nvSpPr>
          <p:spPr>
            <a:xfrm>
              <a:off x="285750" y="1888331"/>
              <a:ext cx="2514600" cy="1857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Feature engineering &amp; study_time</a:t>
              </a:r>
              <a:endParaRPr lang="en-US" sz="1050" dirty="0"/>
            </a:p>
          </p:txBody>
        </p:sp>
        <p:sp>
          <p:nvSpPr>
            <p:cNvPr id="35" name="Text 15">
              <a:extLst>
                <a:ext uri="{FF2B5EF4-FFF2-40B4-BE49-F238E27FC236}">
                  <a16:creationId xmlns:a16="http://schemas.microsoft.com/office/drawing/2014/main" id="{ABB47E24-A456-02D9-846C-0157C871EC4E}"/>
                </a:ext>
              </a:extLst>
            </p:cNvPr>
            <p:cNvSpPr/>
            <p:nvPr/>
          </p:nvSpPr>
          <p:spPr>
            <a:xfrm>
              <a:off x="285750" y="2307431"/>
              <a:ext cx="2514600" cy="1857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KMeans clustering &amp; patterns</a:t>
              </a:r>
              <a:endParaRPr lang="en-US" sz="1050" dirty="0"/>
            </a:p>
          </p:txBody>
        </p:sp>
        <p:sp>
          <p:nvSpPr>
            <p:cNvPr id="36" name="Text 16">
              <a:extLst>
                <a:ext uri="{FF2B5EF4-FFF2-40B4-BE49-F238E27FC236}">
                  <a16:creationId xmlns:a16="http://schemas.microsoft.com/office/drawing/2014/main" id="{3C7ED4AD-8727-7F27-C600-C23AAE4F6B6A}"/>
                </a:ext>
              </a:extLst>
            </p:cNvPr>
            <p:cNvSpPr/>
            <p:nvPr/>
          </p:nvSpPr>
          <p:spPr>
            <a:xfrm>
              <a:off x="285750" y="2726531"/>
              <a:ext cx="2514600" cy="1857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Ensemble regression development</a:t>
              </a:r>
              <a:endParaRPr lang="en-US" sz="1050" dirty="0"/>
            </a:p>
          </p:txBody>
        </p:sp>
        <p:sp>
          <p:nvSpPr>
            <p:cNvPr id="37" name="Text 17">
              <a:extLst>
                <a:ext uri="{FF2B5EF4-FFF2-40B4-BE49-F238E27FC236}">
                  <a16:creationId xmlns:a16="http://schemas.microsoft.com/office/drawing/2014/main" id="{52F2CEEF-8E49-3154-0751-156B8ABA448E}"/>
                </a:ext>
              </a:extLst>
            </p:cNvPr>
            <p:cNvSpPr/>
            <p:nvPr/>
          </p:nvSpPr>
          <p:spPr>
            <a:xfrm>
              <a:off x="285750" y="3145631"/>
              <a:ext cx="2514600" cy="1857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Hybrid classifier implementation</a:t>
              </a:r>
              <a:endParaRPr lang="en-US" sz="1050" dirty="0"/>
            </a:p>
          </p:txBody>
        </p:sp>
        <p:sp>
          <p:nvSpPr>
            <p:cNvPr id="38" name="Text 18">
              <a:extLst>
                <a:ext uri="{FF2B5EF4-FFF2-40B4-BE49-F238E27FC236}">
                  <a16:creationId xmlns:a16="http://schemas.microsoft.com/office/drawing/2014/main" id="{DDBDCE4B-0746-5106-1E18-F15C9AC7E1E1}"/>
                </a:ext>
              </a:extLst>
            </p:cNvPr>
            <p:cNvSpPr/>
            <p:nvPr/>
          </p:nvSpPr>
          <p:spPr>
            <a:xfrm>
              <a:off x="285750" y="3564731"/>
              <a:ext cx="2514600" cy="1857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Ordinal boosting &amp; optimization</a:t>
              </a:r>
              <a:endParaRPr lang="en-US" sz="1050" dirty="0"/>
            </a:p>
          </p:txBody>
        </p:sp>
        <p:sp>
          <p:nvSpPr>
            <p:cNvPr id="39" name="Text 19">
              <a:extLst>
                <a:ext uri="{FF2B5EF4-FFF2-40B4-BE49-F238E27FC236}">
                  <a16:creationId xmlns:a16="http://schemas.microsoft.com/office/drawing/2014/main" id="{10BEA953-F34D-6131-8C6C-9FAFA24B1515}"/>
                </a:ext>
              </a:extLst>
            </p:cNvPr>
            <p:cNvSpPr/>
            <p:nvPr/>
          </p:nvSpPr>
          <p:spPr>
            <a:xfrm>
              <a:off x="285750" y="3983831"/>
              <a:ext cx="2514600" cy="1857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Dashboard development &amp; integration</a:t>
              </a:r>
              <a:endParaRPr lang="en-US" sz="1050" dirty="0"/>
            </a:p>
          </p:txBody>
        </p:sp>
        <p:sp>
          <p:nvSpPr>
            <p:cNvPr id="40" name="Text 20">
              <a:extLst>
                <a:ext uri="{FF2B5EF4-FFF2-40B4-BE49-F238E27FC236}">
                  <a16:creationId xmlns:a16="http://schemas.microsoft.com/office/drawing/2014/main" id="{7D9A0941-9958-9BC2-DD66-61A397E2D2BD}"/>
                </a:ext>
              </a:extLst>
            </p:cNvPr>
            <p:cNvSpPr/>
            <p:nvPr/>
          </p:nvSpPr>
          <p:spPr>
            <a:xfrm>
              <a:off x="285750" y="4402931"/>
              <a:ext cx="2514600" cy="1857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SHAP analysis &amp; visualization</a:t>
              </a:r>
              <a:endParaRPr lang="en-US" sz="1050" dirty="0"/>
            </a:p>
          </p:txBody>
        </p:sp>
        <p:sp>
          <p:nvSpPr>
            <p:cNvPr id="41" name="Text 21">
              <a:extLst>
                <a:ext uri="{FF2B5EF4-FFF2-40B4-BE49-F238E27FC236}">
                  <a16:creationId xmlns:a16="http://schemas.microsoft.com/office/drawing/2014/main" id="{995076D9-921C-8460-E350-AA32C3459781}"/>
                </a:ext>
              </a:extLst>
            </p:cNvPr>
            <p:cNvSpPr/>
            <p:nvPr/>
          </p:nvSpPr>
          <p:spPr>
            <a:xfrm>
              <a:off x="285750" y="4822031"/>
              <a:ext cx="2514600" cy="1857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293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Testing, validation, &amp; documentation</a:t>
              </a:r>
              <a:endParaRPr lang="en-US" sz="1050" dirty="0"/>
            </a:p>
          </p:txBody>
        </p:sp>
        <p:sp>
          <p:nvSpPr>
            <p:cNvPr id="42" name="Text 22">
              <a:extLst>
                <a:ext uri="{FF2B5EF4-FFF2-40B4-BE49-F238E27FC236}">
                  <a16:creationId xmlns:a16="http://schemas.microsoft.com/office/drawing/2014/main" id="{CD855683-2A72-8525-23BF-02E6750E230B}"/>
                </a:ext>
              </a:extLst>
            </p:cNvPr>
            <p:cNvSpPr/>
            <p:nvPr/>
          </p:nvSpPr>
          <p:spPr>
            <a:xfrm>
              <a:off x="456605" y="5865019"/>
              <a:ext cx="5486995" cy="4024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A72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Comprehensive 10-week development cycle covering the full machine learning pipeline from raw data to actionable dashboard.</a:t>
              </a:r>
              <a:endParaRPr lang="en-US" sz="1200" dirty="0"/>
            </a:p>
          </p:txBody>
        </p:sp>
        <p:sp>
          <p:nvSpPr>
            <p:cNvPr id="43" name="Text 23">
              <a:extLst>
                <a:ext uri="{FF2B5EF4-FFF2-40B4-BE49-F238E27FC236}">
                  <a16:creationId xmlns:a16="http://schemas.microsoft.com/office/drawing/2014/main" id="{515A174C-5E64-62B9-06D7-3C5F29BB4833}"/>
                </a:ext>
              </a:extLst>
            </p:cNvPr>
            <p:cNvSpPr/>
            <p:nvPr/>
          </p:nvSpPr>
          <p:spPr>
            <a:xfrm>
              <a:off x="6425357" y="5865019"/>
              <a:ext cx="5480893" cy="4024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A72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Parallel work on model optimization and visualization ensures high accuracy (84.60%) and interpretability via SHAP.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FBC608-E47A-1290-52D8-21583458A69A}"/>
              </a:ext>
            </a:extLst>
          </p:cNvPr>
          <p:cNvGrpSpPr/>
          <p:nvPr/>
        </p:nvGrpSpPr>
        <p:grpSpPr>
          <a:xfrm>
            <a:off x="46630" y="1420816"/>
            <a:ext cx="9050741" cy="4283324"/>
            <a:chOff x="342901" y="1710133"/>
            <a:chExt cx="11092817" cy="4276330"/>
          </a:xfrm>
        </p:grpSpPr>
        <p:pic>
          <p:nvPicPr>
            <p:cNvPr id="3" name="Image 3" descr="preencoded.png">
              <a:extLst>
                <a:ext uri="{FF2B5EF4-FFF2-40B4-BE49-F238E27FC236}">
                  <a16:creationId xmlns:a16="http://schemas.microsoft.com/office/drawing/2014/main" id="{DB4080D9-65AD-5CAF-6DD1-64060A2AD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00925" y="5838825"/>
              <a:ext cx="142875" cy="142875"/>
            </a:xfrm>
            <a:prstGeom prst="rect">
              <a:avLst/>
            </a:prstGeom>
          </p:spPr>
        </p:pic>
        <p:pic>
          <p:nvPicPr>
            <p:cNvPr id="8" name="Image 4" descr="preencoded.png">
              <a:extLst>
                <a:ext uri="{FF2B5EF4-FFF2-40B4-BE49-F238E27FC236}">
                  <a16:creationId xmlns:a16="http://schemas.microsoft.com/office/drawing/2014/main" id="{323099E6-AC96-F85F-FBF9-DB8FCCD1E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15375" y="5838825"/>
              <a:ext cx="142875" cy="142875"/>
            </a:xfrm>
            <a:prstGeom prst="rect">
              <a:avLst/>
            </a:prstGeom>
          </p:spPr>
        </p:pic>
        <p:pic>
          <p:nvPicPr>
            <p:cNvPr id="10" name="Image 5" descr="preencoded.png">
              <a:extLst>
                <a:ext uri="{FF2B5EF4-FFF2-40B4-BE49-F238E27FC236}">
                  <a16:creationId xmlns:a16="http://schemas.microsoft.com/office/drawing/2014/main" id="{8DC2D9C1-EC9D-0F94-7A25-144EE082F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44125" y="5838825"/>
              <a:ext cx="142875" cy="142875"/>
            </a:xfrm>
            <a:prstGeom prst="rect">
              <a:avLst/>
            </a:prstGeom>
          </p:spPr>
        </p:pic>
        <p:pic>
          <p:nvPicPr>
            <p:cNvPr id="12" name="Image 6" descr="preencoded.png">
              <a:extLst>
                <a:ext uri="{FF2B5EF4-FFF2-40B4-BE49-F238E27FC236}">
                  <a16:creationId xmlns:a16="http://schemas.microsoft.com/office/drawing/2014/main" id="{B9B8409D-2561-668F-53E1-6D9E22F4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2901" y="2096855"/>
              <a:ext cx="190500" cy="219075"/>
            </a:xfrm>
            <a:prstGeom prst="rect">
              <a:avLst/>
            </a:prstGeom>
          </p:spPr>
        </p:pic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735280AF-2A5E-172E-1A2A-F29C45939A5B}"/>
                </a:ext>
              </a:extLst>
            </p:cNvPr>
            <p:cNvSpPr/>
            <p:nvPr/>
          </p:nvSpPr>
          <p:spPr>
            <a:xfrm>
              <a:off x="742950" y="1990226"/>
              <a:ext cx="4217789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Dataset</a:t>
              </a:r>
              <a:endParaRPr lang="en-US" sz="1200" dirty="0"/>
            </a:p>
          </p:txBody>
        </p:sp>
        <p:sp>
          <p:nvSpPr>
            <p:cNvPr id="14" name="Text 4">
              <a:extLst>
                <a:ext uri="{FF2B5EF4-FFF2-40B4-BE49-F238E27FC236}">
                  <a16:creationId xmlns:a16="http://schemas.microsoft.com/office/drawing/2014/main" id="{D5DE8EAA-2592-6181-18A7-7B32EFFA85B0}"/>
                </a:ext>
              </a:extLst>
            </p:cNvPr>
            <p:cNvSpPr/>
            <p:nvPr/>
          </p:nvSpPr>
          <p:spPr>
            <a:xfrm>
              <a:off x="742950" y="2295025"/>
              <a:ext cx="421778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15,000 student records from learning management system</a:t>
              </a:r>
              <a:endParaRPr lang="en-US" sz="1100" dirty="0"/>
            </a:p>
          </p:txBody>
        </p:sp>
        <p:pic>
          <p:nvPicPr>
            <p:cNvPr id="15" name="Image 7" descr="preencoded.png">
              <a:extLst>
                <a:ext uri="{FF2B5EF4-FFF2-40B4-BE49-F238E27FC236}">
                  <a16:creationId xmlns:a16="http://schemas.microsoft.com/office/drawing/2014/main" id="{C895120E-94FF-8D9A-A394-ABC9055EC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0693" y="2780921"/>
              <a:ext cx="209550" cy="219075"/>
            </a:xfrm>
            <a:prstGeom prst="rect">
              <a:avLst/>
            </a:prstGeom>
          </p:spPr>
        </p:pic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3EB65203-D41F-599C-A11E-2B00938ED52A}"/>
                </a:ext>
              </a:extLst>
            </p:cNvPr>
            <p:cNvSpPr/>
            <p:nvPr/>
          </p:nvSpPr>
          <p:spPr>
            <a:xfrm>
              <a:off x="742950" y="2663592"/>
              <a:ext cx="5829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Features</a:t>
              </a:r>
              <a:endParaRPr lang="en-US" sz="1200" dirty="0"/>
            </a:p>
          </p:txBody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58FE862E-B44F-D2E8-E7F8-0AF236B64BBC}"/>
                </a:ext>
              </a:extLst>
            </p:cNvPr>
            <p:cNvSpPr/>
            <p:nvPr/>
          </p:nvSpPr>
          <p:spPr>
            <a:xfrm>
              <a:off x="742950" y="2856308"/>
              <a:ext cx="58293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Login frequency, study duration, assignment submissions, forum participation, video views, demographics (age, gender, prior GPA)</a:t>
              </a:r>
              <a:endParaRPr lang="en-US" sz="1100" dirty="0"/>
            </a:p>
          </p:txBody>
        </p:sp>
        <p:pic>
          <p:nvPicPr>
            <p:cNvPr id="18" name="Image 8" descr="preencoded.png">
              <a:extLst>
                <a:ext uri="{FF2B5EF4-FFF2-40B4-BE49-F238E27FC236}">
                  <a16:creationId xmlns:a16="http://schemas.microsoft.com/office/drawing/2014/main" id="{6AB5E1D5-86F4-8AF7-87AB-40795E90D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4004" y="3508499"/>
              <a:ext cx="209550" cy="219075"/>
            </a:xfrm>
            <a:prstGeom prst="rect">
              <a:avLst/>
            </a:prstGeom>
          </p:spPr>
        </p:pic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4F6F3097-C5AF-1A0B-0867-5254C1FDB9C1}"/>
                </a:ext>
              </a:extLst>
            </p:cNvPr>
            <p:cNvSpPr/>
            <p:nvPr/>
          </p:nvSpPr>
          <p:spPr>
            <a:xfrm>
              <a:off x="742948" y="3371640"/>
              <a:ext cx="344120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Exclusions</a:t>
              </a:r>
              <a:endParaRPr lang="en-US" sz="1200" dirty="0"/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37048FB2-12C8-FAC1-DF50-5FE9309C65F2}"/>
                </a:ext>
              </a:extLst>
            </p:cNvPr>
            <p:cNvSpPr/>
            <p:nvPr/>
          </p:nvSpPr>
          <p:spPr>
            <a:xfrm>
              <a:off x="742948" y="3676351"/>
              <a:ext cx="344120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mid-term or exam scores used for prediction</a:t>
              </a:r>
              <a:endParaRPr lang="en-US" sz="1100" dirty="0"/>
            </a:p>
          </p:txBody>
        </p:sp>
        <p:pic>
          <p:nvPicPr>
            <p:cNvPr id="21" name="Image 9" descr="preencoded.png">
              <a:extLst>
                <a:ext uri="{FF2B5EF4-FFF2-40B4-BE49-F238E27FC236}">
                  <a16:creationId xmlns:a16="http://schemas.microsoft.com/office/drawing/2014/main" id="{B02B4CF9-E15A-AA92-B3FD-8561F811B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9747" y="4233887"/>
              <a:ext cx="209550" cy="219075"/>
            </a:xfrm>
            <a:prstGeom prst="rect">
              <a:avLst/>
            </a:prstGeom>
          </p:spPr>
        </p:pic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0EA6F2C9-F97D-8425-51E8-C818C28A2771}"/>
                </a:ext>
              </a:extLst>
            </p:cNvPr>
            <p:cNvSpPr/>
            <p:nvPr/>
          </p:nvSpPr>
          <p:spPr>
            <a:xfrm>
              <a:off x="742950" y="4106106"/>
              <a:ext cx="486504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Tools</a:t>
              </a:r>
              <a:endParaRPr lang="en-US" sz="1200" dirty="0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00B1BB1E-85A7-3DF8-D989-EF3E97674F18}"/>
                </a:ext>
              </a:extLst>
            </p:cNvPr>
            <p:cNvSpPr/>
            <p:nvPr/>
          </p:nvSpPr>
          <p:spPr>
            <a:xfrm>
              <a:off x="742948" y="4391768"/>
              <a:ext cx="486504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Python 3.9, scikit-learn, XGBoost, pandas, matplotlib, seaborn, SHAP</a:t>
              </a:r>
              <a:endParaRPr lang="en-US" sz="1100" dirty="0"/>
            </a:p>
          </p:txBody>
        </p:sp>
        <p:pic>
          <p:nvPicPr>
            <p:cNvPr id="24" name="Image 10" descr="preencoded.png">
              <a:extLst>
                <a:ext uri="{FF2B5EF4-FFF2-40B4-BE49-F238E27FC236}">
                  <a16:creationId xmlns:a16="http://schemas.microsoft.com/office/drawing/2014/main" id="{A146899F-0109-0784-208B-58A78B415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5988" y="5089600"/>
              <a:ext cx="209550" cy="219075"/>
            </a:xfrm>
            <a:prstGeom prst="rect">
              <a:avLst/>
            </a:prstGeom>
          </p:spPr>
        </p:pic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8A5D0430-A481-447A-5DF6-1DE1A38B2440}"/>
                </a:ext>
              </a:extLst>
            </p:cNvPr>
            <p:cNvSpPr/>
            <p:nvPr/>
          </p:nvSpPr>
          <p:spPr>
            <a:xfrm>
              <a:off x="764413" y="4898704"/>
              <a:ext cx="2953196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Infrastructure</a:t>
              </a:r>
              <a:endParaRPr lang="en-US" sz="1200" dirty="0"/>
            </a:p>
          </p:txBody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594E4B85-7CF5-2C9A-6EC8-228E257831A6}"/>
                </a:ext>
              </a:extLst>
            </p:cNvPr>
            <p:cNvSpPr/>
            <p:nvPr/>
          </p:nvSpPr>
          <p:spPr>
            <a:xfrm>
              <a:off x="764413" y="5262611"/>
              <a:ext cx="295319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Jupyter Notebook, GitHub version control</a:t>
              </a:r>
              <a:endParaRPr lang="en-US" sz="1100" dirty="0"/>
            </a:p>
          </p:txBody>
        </p:sp>
        <p:pic>
          <p:nvPicPr>
            <p:cNvPr id="27" name="Image 11" descr="preencoded.png">
              <a:extLst>
                <a:ext uri="{FF2B5EF4-FFF2-40B4-BE49-F238E27FC236}">
                  <a16:creationId xmlns:a16="http://schemas.microsoft.com/office/drawing/2014/main" id="{BBD41DFD-3BBA-79BF-2393-A43170548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817883" y="1710133"/>
              <a:ext cx="4617835" cy="3810000"/>
            </a:xfrm>
            <a:prstGeom prst="rect">
              <a:avLst/>
            </a:prstGeom>
          </p:spPr>
        </p:pic>
        <p:sp>
          <p:nvSpPr>
            <p:cNvPr id="28" name="Text 13">
              <a:extLst>
                <a:ext uri="{FF2B5EF4-FFF2-40B4-BE49-F238E27FC236}">
                  <a16:creationId xmlns:a16="http://schemas.microsoft.com/office/drawing/2014/main" id="{07F6D178-9A2F-4644-54AF-49EDB9600BE4}"/>
                </a:ext>
              </a:extLst>
            </p:cNvPr>
            <p:cNvSpPr/>
            <p:nvPr/>
          </p:nvSpPr>
          <p:spPr>
            <a:xfrm>
              <a:off x="7418189" y="5567363"/>
              <a:ext cx="398487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Feature Category Distribution</a:t>
              </a:r>
              <a:endParaRPr lang="en-US" sz="900" dirty="0"/>
            </a:p>
          </p:txBody>
        </p:sp>
        <p:sp>
          <p:nvSpPr>
            <p:cNvPr id="29" name="Text 14">
              <a:extLst>
                <a:ext uri="{FF2B5EF4-FFF2-40B4-BE49-F238E27FC236}">
                  <a16:creationId xmlns:a16="http://schemas.microsoft.com/office/drawing/2014/main" id="{D18A1DAB-8808-B7F4-6B83-342089208437}"/>
                </a:ext>
              </a:extLst>
            </p:cNvPr>
            <p:cNvSpPr/>
            <p:nvPr/>
          </p:nvSpPr>
          <p:spPr>
            <a:xfrm>
              <a:off x="7608689" y="5834063"/>
              <a:ext cx="89282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Behavioral (40%)</a:t>
              </a:r>
              <a:endParaRPr lang="en-US" sz="800" dirty="0"/>
            </a:p>
          </p:txBody>
        </p:sp>
        <p:sp>
          <p:nvSpPr>
            <p:cNvPr id="30" name="Text 15">
              <a:extLst>
                <a:ext uri="{FF2B5EF4-FFF2-40B4-BE49-F238E27FC236}">
                  <a16:creationId xmlns:a16="http://schemas.microsoft.com/office/drawing/2014/main" id="{FDCAA2D5-2D08-9319-D413-6D57376709D4}"/>
                </a:ext>
              </a:extLst>
            </p:cNvPr>
            <p:cNvSpPr/>
            <p:nvPr/>
          </p:nvSpPr>
          <p:spPr>
            <a:xfrm>
              <a:off x="8920609" y="5834063"/>
              <a:ext cx="1010692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Engagement (35%)</a:t>
              </a:r>
              <a:endParaRPr lang="en-US" sz="800" dirty="0"/>
            </a:p>
          </p:txBody>
        </p:sp>
        <p:sp>
          <p:nvSpPr>
            <p:cNvPr id="31" name="Text 16">
              <a:extLst>
                <a:ext uri="{FF2B5EF4-FFF2-40B4-BE49-F238E27FC236}">
                  <a16:creationId xmlns:a16="http://schemas.microsoft.com/office/drawing/2014/main" id="{A3882D3B-7ADC-7118-2A25-2F7FD1A1CAB0}"/>
                </a:ext>
              </a:extLst>
            </p:cNvPr>
            <p:cNvSpPr/>
            <p:nvPr/>
          </p:nvSpPr>
          <p:spPr>
            <a:xfrm>
              <a:off x="10350401" y="5834063"/>
              <a:ext cx="1052661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Demographic (25%)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2584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Use cases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A1164E-6F2E-B3F9-8D1F-A9C93CC7824D}"/>
              </a:ext>
            </a:extLst>
          </p:cNvPr>
          <p:cNvGrpSpPr/>
          <p:nvPr/>
        </p:nvGrpSpPr>
        <p:grpSpPr>
          <a:xfrm>
            <a:off x="-7060" y="1441083"/>
            <a:ext cx="4211960" cy="4223398"/>
            <a:chOff x="276225" y="1996380"/>
            <a:chExt cx="5543550" cy="4314825"/>
          </a:xfrm>
        </p:grpSpPr>
        <p:pic>
          <p:nvPicPr>
            <p:cNvPr id="3" name="Image 3" descr="preencoded.png">
              <a:extLst>
                <a:ext uri="{FF2B5EF4-FFF2-40B4-BE49-F238E27FC236}">
                  <a16:creationId xmlns:a16="http://schemas.microsoft.com/office/drawing/2014/main" id="{8299C882-1A40-B7DB-3768-9F9427C98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6225" y="2019300"/>
              <a:ext cx="323850" cy="333375"/>
            </a:xfrm>
            <a:prstGeom prst="rect">
              <a:avLst/>
            </a:prstGeom>
          </p:spPr>
        </p:pic>
        <p:pic>
          <p:nvPicPr>
            <p:cNvPr id="8" name="Image 4" descr="preencoded.png">
              <a:extLst>
                <a:ext uri="{FF2B5EF4-FFF2-40B4-BE49-F238E27FC236}">
                  <a16:creationId xmlns:a16="http://schemas.microsoft.com/office/drawing/2014/main" id="{1D5132D0-1D8D-6F88-75A6-66E4732FB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6225" y="2628900"/>
              <a:ext cx="323850" cy="333375"/>
            </a:xfrm>
            <a:prstGeom prst="rect">
              <a:avLst/>
            </a:prstGeom>
          </p:spPr>
        </p:pic>
        <p:pic>
          <p:nvPicPr>
            <p:cNvPr id="10" name="Image 5" descr="preencoded.png">
              <a:extLst>
                <a:ext uri="{FF2B5EF4-FFF2-40B4-BE49-F238E27FC236}">
                  <a16:creationId xmlns:a16="http://schemas.microsoft.com/office/drawing/2014/main" id="{6790A276-BBC7-5A8A-428B-235534F2D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6225" y="3238500"/>
              <a:ext cx="323850" cy="333375"/>
            </a:xfrm>
            <a:prstGeom prst="rect">
              <a:avLst/>
            </a:prstGeom>
          </p:spPr>
        </p:pic>
        <p:pic>
          <p:nvPicPr>
            <p:cNvPr id="11" name="Image 6" descr="preencoded.png">
              <a:extLst>
                <a:ext uri="{FF2B5EF4-FFF2-40B4-BE49-F238E27FC236}">
                  <a16:creationId xmlns:a16="http://schemas.microsoft.com/office/drawing/2014/main" id="{8DD3F5BC-731C-3D01-55B1-FAD14D28E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6225" y="3848100"/>
              <a:ext cx="323850" cy="333375"/>
            </a:xfrm>
            <a:prstGeom prst="rect">
              <a:avLst/>
            </a:prstGeom>
          </p:spPr>
        </p:pic>
        <p:pic>
          <p:nvPicPr>
            <p:cNvPr id="12" name="Image 7" descr="preencoded.png">
              <a:extLst>
                <a:ext uri="{FF2B5EF4-FFF2-40B4-BE49-F238E27FC236}">
                  <a16:creationId xmlns:a16="http://schemas.microsoft.com/office/drawing/2014/main" id="{7AB2BBDC-B01F-F39C-BCF1-E8ED1AF82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6225" y="4457700"/>
              <a:ext cx="323850" cy="333375"/>
            </a:xfrm>
            <a:prstGeom prst="rect">
              <a:avLst/>
            </a:prstGeom>
          </p:spPr>
        </p:pic>
        <p:pic>
          <p:nvPicPr>
            <p:cNvPr id="13" name="Image 8" descr="preencoded.png">
              <a:extLst>
                <a:ext uri="{FF2B5EF4-FFF2-40B4-BE49-F238E27FC236}">
                  <a16:creationId xmlns:a16="http://schemas.microsoft.com/office/drawing/2014/main" id="{595B75B3-6CF5-E872-CFEE-312D547BC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6225" y="5105400"/>
              <a:ext cx="5543550" cy="38100"/>
            </a:xfrm>
            <a:prstGeom prst="rect">
              <a:avLst/>
            </a:prstGeom>
          </p:spPr>
        </p:pic>
        <p:pic>
          <p:nvPicPr>
            <p:cNvPr id="14" name="Image 9" descr="preencoded.png">
              <a:extLst>
                <a:ext uri="{FF2B5EF4-FFF2-40B4-BE49-F238E27FC236}">
                  <a16:creationId xmlns:a16="http://schemas.microsoft.com/office/drawing/2014/main" id="{B35A0914-1417-0943-8867-4CE65B152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225" y="5381625"/>
              <a:ext cx="323850" cy="333375"/>
            </a:xfrm>
            <a:prstGeom prst="rect">
              <a:avLst/>
            </a:prstGeom>
          </p:spPr>
        </p:pic>
        <p:pic>
          <p:nvPicPr>
            <p:cNvPr id="15" name="Image 10" descr="preencoded.png">
              <a:extLst>
                <a:ext uri="{FF2B5EF4-FFF2-40B4-BE49-F238E27FC236}">
                  <a16:creationId xmlns:a16="http://schemas.microsoft.com/office/drawing/2014/main" id="{417F786B-C039-4027-1B18-B2E28456D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225" y="5876925"/>
              <a:ext cx="323850" cy="333375"/>
            </a:xfrm>
            <a:prstGeom prst="rect">
              <a:avLst/>
            </a:prstGeom>
          </p:spPr>
        </p:pic>
        <p:pic>
          <p:nvPicPr>
            <p:cNvPr id="16" name="Image 12" descr="preencoded.png">
              <a:extLst>
                <a:ext uri="{FF2B5EF4-FFF2-40B4-BE49-F238E27FC236}">
                  <a16:creationId xmlns:a16="http://schemas.microsoft.com/office/drawing/2014/main" id="{18E73A2B-E645-D8C2-B54D-126E6BA19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1475" y="2105025"/>
              <a:ext cx="133350" cy="161925"/>
            </a:xfrm>
            <a:prstGeom prst="rect">
              <a:avLst/>
            </a:prstGeom>
          </p:spPr>
        </p:pic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17257A3B-662A-2320-BC3D-2614C8103F62}"/>
                </a:ext>
              </a:extLst>
            </p:cNvPr>
            <p:cNvSpPr/>
            <p:nvPr/>
          </p:nvSpPr>
          <p:spPr>
            <a:xfrm>
              <a:off x="742950" y="1996380"/>
              <a:ext cx="50673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Early risk detection:</a:t>
              </a: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Identify struggling students before midterm exams</a:t>
              </a:r>
              <a:endParaRPr lang="en-US" sz="1100" dirty="0"/>
            </a:p>
          </p:txBody>
        </p:sp>
        <p:pic>
          <p:nvPicPr>
            <p:cNvPr id="18" name="Image 13" descr="preencoded.png">
              <a:extLst>
                <a:ext uri="{FF2B5EF4-FFF2-40B4-BE49-F238E27FC236}">
                  <a16:creationId xmlns:a16="http://schemas.microsoft.com/office/drawing/2014/main" id="{AE0D6F7E-4905-BB95-9E99-13A193E27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2900" y="2714625"/>
              <a:ext cx="190500" cy="161925"/>
            </a:xfrm>
            <a:prstGeom prst="rect">
              <a:avLst/>
            </a:prstGeom>
          </p:spPr>
        </p:pic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92C0C684-F7B9-83A1-3BAA-03C561C47F29}"/>
                </a:ext>
              </a:extLst>
            </p:cNvPr>
            <p:cNvSpPr/>
            <p:nvPr/>
          </p:nvSpPr>
          <p:spPr>
            <a:xfrm>
              <a:off x="742950" y="2605980"/>
              <a:ext cx="50673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Personalized recommendations:</a:t>
              </a: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Tailored interventions based on behavioral patterns</a:t>
              </a:r>
              <a:endParaRPr lang="en-US" sz="1100" dirty="0"/>
            </a:p>
          </p:txBody>
        </p:sp>
        <p:pic>
          <p:nvPicPr>
            <p:cNvPr id="20" name="Image 14" descr="preencoded.png">
              <a:extLst>
                <a:ext uri="{FF2B5EF4-FFF2-40B4-BE49-F238E27FC236}">
                  <a16:creationId xmlns:a16="http://schemas.microsoft.com/office/drawing/2014/main" id="{1ADA43BE-291B-EE80-FE6E-486556039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2425" y="3324225"/>
              <a:ext cx="171450" cy="161925"/>
            </a:xfrm>
            <a:prstGeom prst="rect">
              <a:avLst/>
            </a:prstGeom>
          </p:spPr>
        </p:pic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3E6B7E5A-2036-8912-B2BE-FC84F5B9DB8A}"/>
                </a:ext>
              </a:extLst>
            </p:cNvPr>
            <p:cNvSpPr/>
            <p:nvPr/>
          </p:nvSpPr>
          <p:spPr>
            <a:xfrm>
              <a:off x="742950" y="3215580"/>
              <a:ext cx="50673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Classroom dashboard:</a:t>
              </a: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Real-time monitoring for instructors and advisors</a:t>
              </a:r>
              <a:endParaRPr lang="en-US" sz="1100" dirty="0"/>
            </a:p>
          </p:txBody>
        </p:sp>
        <p:pic>
          <p:nvPicPr>
            <p:cNvPr id="22" name="Image 15" descr="preencoded.png">
              <a:extLst>
                <a:ext uri="{FF2B5EF4-FFF2-40B4-BE49-F238E27FC236}">
                  <a16:creationId xmlns:a16="http://schemas.microsoft.com/office/drawing/2014/main" id="{56E2F3A5-DC4F-C193-FE62-BD87E4AC1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1950" y="3933825"/>
              <a:ext cx="152400" cy="161925"/>
            </a:xfrm>
            <a:prstGeom prst="rect">
              <a:avLst/>
            </a:prstGeom>
          </p:spPr>
        </p:pic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FAD7D799-5DAB-BB09-91C3-901BA63A2480}"/>
                </a:ext>
              </a:extLst>
            </p:cNvPr>
            <p:cNvSpPr/>
            <p:nvPr/>
          </p:nvSpPr>
          <p:spPr>
            <a:xfrm>
              <a:off x="742950" y="3825180"/>
              <a:ext cx="50673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Scalable for institutions:</a:t>
              </a: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Adaptable to different course sizes and disciplines</a:t>
              </a:r>
              <a:endParaRPr lang="en-US" sz="1100" dirty="0"/>
            </a:p>
          </p:txBody>
        </p:sp>
        <p:pic>
          <p:nvPicPr>
            <p:cNvPr id="24" name="Image 16" descr="preencoded.png">
              <a:extLst>
                <a:ext uri="{FF2B5EF4-FFF2-40B4-BE49-F238E27FC236}">
                  <a16:creationId xmlns:a16="http://schemas.microsoft.com/office/drawing/2014/main" id="{5DC6E36B-9550-AB3F-0084-759A89897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61950" y="4543425"/>
              <a:ext cx="152400" cy="161925"/>
            </a:xfrm>
            <a:prstGeom prst="rect">
              <a:avLst/>
            </a:prstGeom>
          </p:spPr>
        </p:pic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45E4B86E-6F2A-8CC8-834F-E215AED9DB16}"/>
                </a:ext>
              </a:extLst>
            </p:cNvPr>
            <p:cNvSpPr/>
            <p:nvPr/>
          </p:nvSpPr>
          <p:spPr>
            <a:xfrm>
              <a:off x="742950" y="4434780"/>
              <a:ext cx="50673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Institutional analytics:</a:t>
              </a: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Aggregate insights for curriculum improvement</a:t>
              </a:r>
              <a:endParaRPr lang="en-US" sz="1100" dirty="0"/>
            </a:p>
          </p:txBody>
        </p:sp>
        <p:pic>
          <p:nvPicPr>
            <p:cNvPr id="26" name="Image 17" descr="preencoded.png">
              <a:extLst>
                <a:ext uri="{FF2B5EF4-FFF2-40B4-BE49-F238E27FC236}">
                  <a16:creationId xmlns:a16="http://schemas.microsoft.com/office/drawing/2014/main" id="{F8F0486B-32DC-558D-62A3-5010CB0CB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71475" y="5467350"/>
              <a:ext cx="133350" cy="161925"/>
            </a:xfrm>
            <a:prstGeom prst="rect">
              <a:avLst/>
            </a:prstGeom>
          </p:spPr>
        </p:pic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376939A6-A14D-ED72-E768-C530EA3667C6}"/>
                </a:ext>
              </a:extLst>
            </p:cNvPr>
            <p:cNvSpPr/>
            <p:nvPr/>
          </p:nvSpPr>
          <p:spPr>
            <a:xfrm>
              <a:off x="742950" y="5358705"/>
              <a:ext cx="42920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Scope:</a:t>
              </a: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Pre-midterm prediction only (Weeks 1-6 of semester)</a:t>
              </a:r>
              <a:endParaRPr lang="en-US" sz="1100" dirty="0"/>
            </a:p>
          </p:txBody>
        </p:sp>
        <p:pic>
          <p:nvPicPr>
            <p:cNvPr id="28" name="Image 18" descr="preencoded.png">
              <a:extLst>
                <a:ext uri="{FF2B5EF4-FFF2-40B4-BE49-F238E27FC236}">
                  <a16:creationId xmlns:a16="http://schemas.microsoft.com/office/drawing/2014/main" id="{007C5A00-5248-4B00-0212-F8F656ACF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61950" y="5962650"/>
              <a:ext cx="152400" cy="161925"/>
            </a:xfrm>
            <a:prstGeom prst="rect">
              <a:avLst/>
            </a:prstGeom>
          </p:spPr>
        </p:pic>
        <p:sp>
          <p:nvSpPr>
            <p:cNvPr id="29" name="Text 9">
              <a:extLst>
                <a:ext uri="{FF2B5EF4-FFF2-40B4-BE49-F238E27FC236}">
                  <a16:creationId xmlns:a16="http://schemas.microsoft.com/office/drawing/2014/main" id="{48847BAA-A171-3C2B-DD26-9088A6B25E45}"/>
                </a:ext>
              </a:extLst>
            </p:cNvPr>
            <p:cNvSpPr/>
            <p:nvPr/>
          </p:nvSpPr>
          <p:spPr>
            <a:xfrm>
              <a:off x="742950" y="5854005"/>
              <a:ext cx="50673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Limitation:</a:t>
              </a:r>
              <a:r>
                <a:rPr lang="en-US" sz="1100" dirty="0">
                  <a:solidFill>
                    <a:srgbClr val="4A55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Requires consistent LMS data collection and student engagement tracking</a:t>
              </a:r>
              <a:endParaRPr lang="en-US" sz="1100" dirty="0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5DB60BCE-303E-9461-BE58-F28B518CD6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2816" y="1145954"/>
            <a:ext cx="4811636" cy="499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pic>
        <p:nvPicPr>
          <p:cNvPr id="11" name="Image 5" descr="preencoded.png">
            <a:extLst>
              <a:ext uri="{FF2B5EF4-FFF2-40B4-BE49-F238E27FC236}">
                <a16:creationId xmlns:a16="http://schemas.microsoft.com/office/drawing/2014/main" id="{0F044CAF-4DE6-FE15-6013-8F9576C70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955" y="1696764"/>
            <a:ext cx="233060" cy="257175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841D2EEA-5EBA-1936-FCB4-81D4A9FAB13B}"/>
              </a:ext>
            </a:extLst>
          </p:cNvPr>
          <p:cNvSpPr/>
          <p:nvPr/>
        </p:nvSpPr>
        <p:spPr>
          <a:xfrm>
            <a:off x="513617" y="1651074"/>
            <a:ext cx="934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84.60%</a:t>
            </a:r>
            <a:endParaRPr lang="en-US" sz="21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91E00EC0-50C5-BB24-6283-008D43344147}"/>
              </a:ext>
            </a:extLst>
          </p:cNvPr>
          <p:cNvSpPr/>
          <p:nvPr/>
        </p:nvSpPr>
        <p:spPr>
          <a:xfrm>
            <a:off x="190919" y="2070174"/>
            <a:ext cx="2252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9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69214D22-3F68-45C7-6016-F7875B3A24C6}"/>
              </a:ext>
            </a:extLst>
          </p:cNvPr>
          <p:cNvSpPr/>
          <p:nvPr/>
        </p:nvSpPr>
        <p:spPr>
          <a:xfrm>
            <a:off x="190919" y="2298774"/>
            <a:ext cx="225202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six-class grade prediction</a:t>
            </a:r>
            <a:endParaRPr lang="en-US" sz="800" dirty="0"/>
          </a:p>
        </p:txBody>
      </p:sp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6FE1C0EA-0D70-D39F-FB0D-3915F2F618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7013" y="1696764"/>
            <a:ext cx="242024" cy="257175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94E5B70A-7750-C893-EB35-3ADF328DC3F5}"/>
              </a:ext>
            </a:extLst>
          </p:cNvPr>
          <p:cNvSpPr/>
          <p:nvPr/>
        </p:nvSpPr>
        <p:spPr>
          <a:xfrm>
            <a:off x="2980775" y="1651074"/>
            <a:ext cx="5381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21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B662F2DC-4895-FA3C-044A-FD539500DCB1}"/>
              </a:ext>
            </a:extLst>
          </p:cNvPr>
          <p:cNvSpPr/>
          <p:nvPr/>
        </p:nvSpPr>
        <p:spPr>
          <a:xfrm>
            <a:off x="2658077" y="2070174"/>
            <a:ext cx="22521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9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E7A4CEE-9926-77D3-3C53-C362D15088B0}"/>
              </a:ext>
            </a:extLst>
          </p:cNvPr>
          <p:cNvSpPr/>
          <p:nvPr/>
        </p:nvSpPr>
        <p:spPr>
          <a:xfrm>
            <a:off x="2658077" y="2298774"/>
            <a:ext cx="22521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(weighted average across all grade classes)</a:t>
            </a:r>
            <a:endParaRPr lang="en-US" sz="800" dirty="0"/>
          </a:p>
        </p:txBody>
      </p:sp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0DD6ABD4-939B-7080-39D4-65E51F8CD0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955" y="2801664"/>
            <a:ext cx="233060" cy="257175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16B7C4A6-77E7-30A2-891B-7BEFD13F7F52}"/>
              </a:ext>
            </a:extLst>
          </p:cNvPr>
          <p:cNvSpPr/>
          <p:nvPr/>
        </p:nvSpPr>
        <p:spPr>
          <a:xfrm>
            <a:off x="513617" y="2760736"/>
            <a:ext cx="5381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21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276E6B21-FAF5-BF8A-8CF6-E536B76D15B6}"/>
              </a:ext>
            </a:extLst>
          </p:cNvPr>
          <p:cNvSpPr/>
          <p:nvPr/>
        </p:nvSpPr>
        <p:spPr>
          <a:xfrm>
            <a:off x="190919" y="3179836"/>
            <a:ext cx="2252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F-grade Recall</a:t>
            </a:r>
            <a:endParaRPr lang="en-US" sz="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B98792E1-CCCB-6275-852C-2EA2525D445E}"/>
              </a:ext>
            </a:extLst>
          </p:cNvPr>
          <p:cNvSpPr/>
          <p:nvPr/>
        </p:nvSpPr>
        <p:spPr>
          <a:xfrm>
            <a:off x="190919" y="3408436"/>
            <a:ext cx="225202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detection rate for at-risk students)</a:t>
            </a:r>
            <a:endParaRPr lang="en-US" sz="800" dirty="0"/>
          </a:p>
        </p:txBody>
      </p:sp>
      <p:pic>
        <p:nvPicPr>
          <p:cNvPr id="23" name="Image 8" descr="preencoded.png">
            <a:extLst>
              <a:ext uri="{FF2B5EF4-FFF2-40B4-BE49-F238E27FC236}">
                <a16:creationId xmlns:a16="http://schemas.microsoft.com/office/drawing/2014/main" id="{4B76D215-9F19-2E0F-A074-72C91AA124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7013" y="2801664"/>
            <a:ext cx="295807" cy="257175"/>
          </a:xfrm>
          <a:prstGeom prst="rect">
            <a:avLst/>
          </a:prstGeom>
        </p:spPr>
      </p:pic>
      <p:sp>
        <p:nvSpPr>
          <p:cNvPr id="24" name="Text 12">
            <a:extLst>
              <a:ext uri="{FF2B5EF4-FFF2-40B4-BE49-F238E27FC236}">
                <a16:creationId xmlns:a16="http://schemas.microsoft.com/office/drawing/2014/main" id="{E7975A1C-04D8-A29F-E181-566DFACAE240}"/>
              </a:ext>
            </a:extLst>
          </p:cNvPr>
          <p:cNvSpPr/>
          <p:nvPr/>
        </p:nvSpPr>
        <p:spPr>
          <a:xfrm>
            <a:off x="3034559" y="2760736"/>
            <a:ext cx="6920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6,422</a:t>
            </a:r>
            <a:endParaRPr lang="en-US" sz="21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9879C927-5BFC-1435-8350-E5A1F96D9D25}"/>
              </a:ext>
            </a:extLst>
          </p:cNvPr>
          <p:cNvSpPr/>
          <p:nvPr/>
        </p:nvSpPr>
        <p:spPr>
          <a:xfrm>
            <a:off x="2658077" y="3179836"/>
            <a:ext cx="22521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Students Identified</a:t>
            </a:r>
            <a:endParaRPr lang="en-US" sz="9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6ECEACC-15E8-A119-D475-FFC2CF587805}"/>
              </a:ext>
            </a:extLst>
          </p:cNvPr>
          <p:cNvSpPr/>
          <p:nvPr/>
        </p:nvSpPr>
        <p:spPr>
          <a:xfrm>
            <a:off x="2658077" y="3408436"/>
            <a:ext cx="22521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flagged for early intervention</a:t>
            </a:r>
            <a:endParaRPr lang="en-US" sz="8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3A9CB1D-299F-B23F-001F-FBB9E0298C45}"/>
              </a:ext>
            </a:extLst>
          </p:cNvPr>
          <p:cNvGrpSpPr/>
          <p:nvPr/>
        </p:nvGrpSpPr>
        <p:grpSpPr>
          <a:xfrm>
            <a:off x="4719622" y="1120236"/>
            <a:ext cx="4419176" cy="4829044"/>
            <a:chOff x="4972956" y="676183"/>
            <a:chExt cx="6189710" cy="5859282"/>
          </a:xfrm>
        </p:grpSpPr>
        <p:pic>
          <p:nvPicPr>
            <p:cNvPr id="8" name="Image 4" descr="preencoded.png">
              <a:extLst>
                <a:ext uri="{FF2B5EF4-FFF2-40B4-BE49-F238E27FC236}">
                  <a16:creationId xmlns:a16="http://schemas.microsoft.com/office/drawing/2014/main" id="{EC2339A7-A899-B521-6FC9-59884F73A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72956" y="676183"/>
              <a:ext cx="6189710" cy="5859282"/>
            </a:xfrm>
            <a:prstGeom prst="rect">
              <a:avLst/>
            </a:prstGeom>
          </p:spPr>
        </p:pic>
        <p:sp>
          <p:nvSpPr>
            <p:cNvPr id="28" name="Text 16">
              <a:extLst>
                <a:ext uri="{FF2B5EF4-FFF2-40B4-BE49-F238E27FC236}">
                  <a16:creationId xmlns:a16="http://schemas.microsoft.com/office/drawing/2014/main" id="{87D6AC88-47D4-993A-B68D-5F4C636B835E}"/>
                </a:ext>
              </a:extLst>
            </p:cNvPr>
            <p:cNvSpPr/>
            <p:nvPr/>
          </p:nvSpPr>
          <p:spPr>
            <a:xfrm>
              <a:off x="5564605" y="1539602"/>
              <a:ext cx="53381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Performance</a:t>
              </a:r>
              <a:r>
                <a:rPr lang="en-US" sz="1100" b="1" dirty="0">
                  <a:solidFill>
                    <a:srgbClr val="1018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Metrics Overview</a:t>
              </a:r>
              <a:endParaRPr lang="en-US" sz="1100" dirty="0"/>
            </a:p>
          </p:txBody>
        </p:sp>
        <p:pic>
          <p:nvPicPr>
            <p:cNvPr id="29" name="Image 9" descr="preencoded.png">
              <a:extLst>
                <a:ext uri="{FF2B5EF4-FFF2-40B4-BE49-F238E27FC236}">
                  <a16:creationId xmlns:a16="http://schemas.microsoft.com/office/drawing/2014/main" id="{9DEF380B-47CC-3157-34C2-72EC4033A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72956" y="1768202"/>
              <a:ext cx="6189710" cy="4587423"/>
            </a:xfrm>
            <a:prstGeom prst="rect">
              <a:avLst/>
            </a:prstGeom>
          </p:spPr>
        </p:pic>
      </p:grpSp>
      <p:pic>
        <p:nvPicPr>
          <p:cNvPr id="55" name="Image 3" descr="preencoded.png">
            <a:extLst>
              <a:ext uri="{FF2B5EF4-FFF2-40B4-BE49-F238E27FC236}">
                <a16:creationId xmlns:a16="http://schemas.microsoft.com/office/drawing/2014/main" id="{9A3DB3AA-E169-4743-8C6B-4978A81FEB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08" y="4738196"/>
            <a:ext cx="4741874" cy="1057275"/>
          </a:xfrm>
          <a:prstGeom prst="rect">
            <a:avLst/>
          </a:prstGeom>
        </p:spPr>
      </p:pic>
      <p:sp>
        <p:nvSpPr>
          <p:cNvPr id="56" name="Text 15">
            <a:extLst>
              <a:ext uri="{FF2B5EF4-FFF2-40B4-BE49-F238E27FC236}">
                <a16:creationId xmlns:a16="http://schemas.microsoft.com/office/drawing/2014/main" id="{D7236A80-E3C0-B42C-EFB7-20AE145110EE}"/>
              </a:ext>
            </a:extLst>
          </p:cNvPr>
          <p:cNvSpPr/>
          <p:nvPr/>
        </p:nvSpPr>
        <p:spPr>
          <a:xfrm>
            <a:off x="296104" y="4945365"/>
            <a:ext cx="432491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r>
              <a:rPr lang="en-US" sz="900" dirty="0">
                <a:solidFill>
                  <a:srgbClr val="1E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Enables proactive academic support, reduces dropout rates, improves student success outcomes, and provides data-driven insights for institutional decision-making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831101-85D6-9E66-E3FA-0CB81F3F3B4D}"/>
              </a:ext>
            </a:extLst>
          </p:cNvPr>
          <p:cNvGrpSpPr/>
          <p:nvPr/>
        </p:nvGrpSpPr>
        <p:grpSpPr>
          <a:xfrm>
            <a:off x="72008" y="201989"/>
            <a:ext cx="9071992" cy="6454022"/>
            <a:chOff x="0" y="38100"/>
            <a:chExt cx="12192000" cy="6858000"/>
          </a:xfrm>
        </p:grpSpPr>
        <p:pic>
          <p:nvPicPr>
            <p:cNvPr id="5" name="Image 1" descr="preencoded.png">
              <a:extLst>
                <a:ext uri="{FF2B5EF4-FFF2-40B4-BE49-F238E27FC236}">
                  <a16:creationId xmlns:a16="http://schemas.microsoft.com/office/drawing/2014/main" id="{B5D1461E-F251-1A69-5391-B884ECB09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8100"/>
              <a:ext cx="12192000" cy="6858000"/>
            </a:xfrm>
            <a:prstGeom prst="rect">
              <a:avLst/>
            </a:prstGeom>
          </p:spPr>
        </p:pic>
        <p:pic>
          <p:nvPicPr>
            <p:cNvPr id="7" name="Image 2" descr="preencoded.png">
              <a:extLst>
                <a:ext uri="{FF2B5EF4-FFF2-40B4-BE49-F238E27FC236}">
                  <a16:creationId xmlns:a16="http://schemas.microsoft.com/office/drawing/2014/main" id="{A9662C84-0ED0-2847-5C52-312CDE679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8977" y="676275"/>
              <a:ext cx="3010597" cy="2400300"/>
            </a:xfrm>
            <a:prstGeom prst="rect">
              <a:avLst/>
            </a:prstGeom>
          </p:spPr>
        </p:pic>
        <p:pic>
          <p:nvPicPr>
            <p:cNvPr id="8" name="Image 3" descr="preencoded.png">
              <a:extLst>
                <a:ext uri="{FF2B5EF4-FFF2-40B4-BE49-F238E27FC236}">
                  <a16:creationId xmlns:a16="http://schemas.microsoft.com/office/drawing/2014/main" id="{A4FCED12-BED3-A49E-59E3-6C47E351B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29524" y="2486025"/>
              <a:ext cx="4224454" cy="3352800"/>
            </a:xfrm>
            <a:prstGeom prst="rect">
              <a:avLst/>
            </a:prstGeom>
          </p:spPr>
        </p:pic>
        <p:pic>
          <p:nvPicPr>
            <p:cNvPr id="9" name="Image 4" descr="preencoded.png">
              <a:extLst>
                <a:ext uri="{FF2B5EF4-FFF2-40B4-BE49-F238E27FC236}">
                  <a16:creationId xmlns:a16="http://schemas.microsoft.com/office/drawing/2014/main" id="{93F32A3F-5E56-EF0E-B8BA-93201F516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91475" y="2733675"/>
              <a:ext cx="1162050" cy="1162050"/>
            </a:xfrm>
            <a:prstGeom prst="rect">
              <a:avLst/>
            </a:prstGeom>
          </p:spPr>
        </p:pic>
        <p:pic>
          <p:nvPicPr>
            <p:cNvPr id="10" name="Image 5" descr="preencoded.png">
              <a:extLst>
                <a:ext uri="{FF2B5EF4-FFF2-40B4-BE49-F238E27FC236}">
                  <a16:creationId xmlns:a16="http://schemas.microsoft.com/office/drawing/2014/main" id="{74A92661-B77D-C362-F66E-72A61F70A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99295" y="3762376"/>
              <a:ext cx="2663131" cy="1733550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ln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Garamond" pitchFamily="18" charset="0"/>
              </a:rPr>
              <a:t>THANK</a:t>
            </a:r>
            <a:r>
              <a:rPr lang="en-US" sz="7200" dirty="0">
                <a:solidFill>
                  <a:schemeClr val="bg1"/>
                </a:solidFill>
                <a:latin typeface="Garamond" pitchFamily="18" charset="0"/>
              </a:rPr>
              <a:t> </a:t>
            </a:r>
            <a:r>
              <a:rPr lang="en-US" sz="7200" dirty="0">
                <a:ln>
                  <a:solidFill>
                    <a:srgbClr val="E31E24"/>
                  </a:solidFill>
                </a:ln>
                <a:solidFill>
                  <a:schemeClr val="bg1"/>
                </a:solidFill>
                <a:latin typeface="Garamond" pitchFamily="18" charset="0"/>
              </a:rPr>
              <a:t>YOU</a:t>
            </a:r>
            <a:endParaRPr lang="en-IN" sz="7200" dirty="0">
              <a:ln>
                <a:solidFill>
                  <a:srgbClr val="E31E24"/>
                </a:solidFill>
              </a:ln>
              <a:solidFill>
                <a:schemeClr val="bg1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8641</TotalTime>
  <Words>927</Words>
  <Application>Microsoft Office PowerPoint</Application>
  <PresentationFormat>On-screen Show (4:3)</PresentationFormat>
  <Paragraphs>211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Segoe UI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Mansi Rawat</cp:lastModifiedBy>
  <cp:revision>314</cp:revision>
  <cp:lastPrinted>2022-09-05T08:43:44Z</cp:lastPrinted>
  <dcterms:created xsi:type="dcterms:W3CDTF">2020-01-16T09:05:56Z</dcterms:created>
  <dcterms:modified xsi:type="dcterms:W3CDTF">2026-04-08T03:24:33Z</dcterms:modified>
</cp:coreProperties>
</file>
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497" r:id="rId3"/>
    <p:sldId id="499" r:id="rId4"/>
    <p:sldId id="500" r:id="rId5"/>
    <p:sldId id="501" r:id="rId6"/>
    <p:sldId id="502" r:id="rId7"/>
    <p:sldId id="503" r:id="rId8"/>
    <p:sldId id="504" r:id="rId9"/>
    <p:sldId id="505" r:id="rId10"/>
    <p:sldId id="506" r:id="rId11"/>
    <p:sldId id="507" r:id="rId12"/>
    <p:sldId id="269" r:id="rId13"/>
  </p:sldIdLst>
  <p:sldSz cx="9144000" cy="6858000" type="screen4x3"/>
  <p:notesSz cx="6761163" cy="99425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0AA"/>
    <a:srgbClr val="0066B3"/>
    <a:srgbClr val="E31E24"/>
    <a:srgbClr val="006CB4"/>
    <a:srgbClr val="E830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6437" autoAdjust="0"/>
    <p:restoredTop sz="94660"/>
  </p:normalViewPr>
  <p:slideViewPr>
    <p:cSldViewPr>
      <p:cViewPr varScale="1">
        <p:scale>
          <a:sx n="78" d="100"/>
          <a:sy n="78" d="100"/>
        </p:scale>
        <p:origin x="1099" y="6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29837" cy="49885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29761" y="0"/>
            <a:ext cx="2929837" cy="49885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668431-CD35-4516-818D-B41B2C4843CF}" type="datetimeFigureOut">
              <a:rPr lang="en-IN" smtClean="0"/>
              <a:t>11-03-2026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4588" y="1243013"/>
            <a:ext cx="4471987" cy="33559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43662"/>
            <a:ext cx="2929837" cy="49885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29761" y="9443662"/>
            <a:ext cx="2929837" cy="49885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B949B3-C4AB-4FB2-8B24-B07A558BD5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65345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56005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66966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04681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08931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375441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964010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605045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154644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36910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EA6B61-674B-0ABF-F5C3-A72BF2845D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2FBED0-DE41-A040-921A-D95B51852C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BB3F754-664A-ECDE-8199-65800D9763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AF3E54-5ADF-52CC-11B5-B7F7837DEE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71296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11-03-2026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16174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11-03-2026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11951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11-03-2026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07170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11-03-2026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11858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11-03-2026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13015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11-03-2026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52406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11-03-2026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17875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11-03-2026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96799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11-03-2026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68460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11-03-2026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7557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11-03-2026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53898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AA89A1-F17A-4D3D-AC08-D16056C16514}" type="datetimeFigureOut">
              <a:rPr lang="en-IN" smtClean="0"/>
              <a:t>11-03-2026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87599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PPT Admission Drive 2021-22-final-2_Page_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0383"/>
          </a:xfrm>
          <a:prstGeom prst="rect">
            <a:avLst/>
          </a:prstGeom>
        </p:spPr>
      </p:pic>
    </p:spTree>
  </p:cSld>
  <p:clrMapOvr>
    <a:masterClrMapping/>
  </p:clrMapOvr>
  <p:transition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4260" y="-27384"/>
            <a:ext cx="9180512" cy="6885384"/>
          </a:xfrm>
        </p:spPr>
      </p:pic>
      <p:cxnSp>
        <p:nvCxnSpPr>
          <p:cNvPr id="11" name="Straight Connector 10"/>
          <p:cNvCxnSpPr/>
          <p:nvPr/>
        </p:nvCxnSpPr>
        <p:spPr>
          <a:xfrm>
            <a:off x="1520415" y="2348880"/>
            <a:ext cx="630654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3967" y="190323"/>
            <a:ext cx="6396065" cy="920873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81200" y="2547035"/>
            <a:ext cx="878497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buSzPct val="25000"/>
            </a:pPr>
            <a:r>
              <a:rPr lang="en-IN" sz="2400" b="1" dirty="0">
                <a:solidFill>
                  <a:srgbClr val="0070C0"/>
                </a:solidFill>
                <a:ea typeface="Cambria" panose="02040503050406030204" pitchFamily="18" charset="0"/>
                <a:cs typeface="Times New Roman" panose="02020603050405020304" pitchFamily="18" charset="0"/>
                <a:sym typeface="Arial"/>
              </a:rPr>
              <a:t>Final Year Project Synopsis</a:t>
            </a:r>
          </a:p>
          <a:p>
            <a:pPr lvl="0" algn="ctr">
              <a:buSzPct val="25000"/>
            </a:pPr>
            <a:r>
              <a:rPr lang="en-IN" sz="2400" b="1" dirty="0">
                <a:solidFill>
                  <a:srgbClr val="0070C0"/>
                </a:solidFill>
                <a:ea typeface="Cambria" panose="02040503050406030204" pitchFamily="18" charset="0"/>
                <a:cs typeface="Times New Roman" panose="02020603050405020304" pitchFamily="18" charset="0"/>
                <a:sym typeface="Arial"/>
              </a:rPr>
              <a:t>Submitted by</a:t>
            </a:r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232DFD41-0025-28B4-FE3B-A54FAEE28F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5241168"/>
              </p:ext>
            </p:extLst>
          </p:nvPr>
        </p:nvGraphicFramePr>
        <p:xfrm>
          <a:off x="1625688" y="3429000"/>
          <a:ext cx="60960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3537270469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3305024946"/>
                    </a:ext>
                  </a:extLst>
                </a:gridCol>
              </a:tblGrid>
              <a:tr h="22891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ROLL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NAME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5898331"/>
                  </a:ext>
                </a:extLst>
              </a:tr>
              <a:tr h="228915">
                <a:tc>
                  <a:txBody>
                    <a:bodyPr/>
                    <a:lstStyle/>
                    <a:p>
                      <a:r>
                        <a:rPr lang="en-US" dirty="0"/>
                        <a:t>2301840009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Mansi Rawat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6101868"/>
                  </a:ext>
                </a:extLst>
              </a:tr>
              <a:tr h="228915">
                <a:tc>
                  <a:txBody>
                    <a:bodyPr/>
                    <a:lstStyle/>
                    <a:p>
                      <a:r>
                        <a:rPr lang="en-US" dirty="0"/>
                        <a:t>2301840005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Sahil </a:t>
                      </a:r>
                      <a:r>
                        <a:rPr lang="en-US" dirty="0" err="1"/>
                        <a:t>Parasar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8206324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3DF18845-4075-32C5-8F4A-4F40F86E837F}"/>
              </a:ext>
            </a:extLst>
          </p:cNvPr>
          <p:cNvSpPr txBox="1"/>
          <p:nvPr/>
        </p:nvSpPr>
        <p:spPr>
          <a:xfrm>
            <a:off x="2344047" y="1628800"/>
            <a:ext cx="465928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SzPct val="25000"/>
            </a:pPr>
            <a:r>
              <a:rPr lang="en-US" sz="2000" b="1" dirty="0">
                <a:solidFill>
                  <a:srgbClr val="C00000"/>
                </a:solidFill>
              </a:rPr>
              <a:t>Student Performance Prediction Using Educational Data Mining Techniques</a:t>
            </a:r>
          </a:p>
          <a:p>
            <a:pPr lvl="0" algn="ctr">
              <a:buSzPct val="25000"/>
            </a:pPr>
            <a:endParaRPr lang="en-IN" sz="2000" b="1" dirty="0">
              <a:solidFill>
                <a:srgbClr val="C00000"/>
              </a:solidFill>
              <a:ea typeface="Cambria" panose="020405030504060302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0D4C745-33B7-0116-E20F-11A7F0DFD46F}"/>
              </a:ext>
            </a:extLst>
          </p:cNvPr>
          <p:cNvSpPr txBox="1"/>
          <p:nvPr/>
        </p:nvSpPr>
        <p:spPr>
          <a:xfrm>
            <a:off x="236440" y="5733256"/>
            <a:ext cx="85840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buSzPct val="25000"/>
            </a:pPr>
            <a:r>
              <a:rPr lang="en-IN" b="1" dirty="0">
                <a:solidFill>
                  <a:srgbClr val="0070C0"/>
                </a:solidFill>
                <a:ea typeface="Cambria" panose="02040503050406030204" pitchFamily="18" charset="0"/>
                <a:cs typeface="Times New Roman" panose="02020603050405020304" pitchFamily="18" charset="0"/>
                <a:sym typeface="Arial"/>
              </a:rPr>
              <a:t>Faculty Mentor:</a:t>
            </a:r>
            <a:r>
              <a:rPr lang="en-IN" sz="1800" b="1" dirty="0">
                <a:solidFill>
                  <a:srgbClr val="0070C0"/>
                </a:solidFill>
                <a:ea typeface="Cambria" panose="02040503050406030204" pitchFamily="18" charset="0"/>
                <a:cs typeface="Times New Roman" panose="02020603050405020304" pitchFamily="18" charset="0"/>
                <a:sym typeface="Arial"/>
              </a:rPr>
              <a:t> Dr. Meenu</a:t>
            </a:r>
          </a:p>
        </p:txBody>
      </p:sp>
    </p:spTree>
    <p:extLst>
      <p:ext uri="{BB962C8B-B14F-4D97-AF65-F5344CB8AC3E}">
        <p14:creationId xmlns:p14="http://schemas.microsoft.com/office/powerpoint/2010/main" val="41425364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5" grpId="0"/>
      <p:bldP spid="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56" y="0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79512" y="151593"/>
            <a:ext cx="4153701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Project Overview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BCB164A-15F0-82C2-8BC8-88BE3FB3BA9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29894" y="1196752"/>
            <a:ext cx="4050619" cy="545924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D7C086D-7DFB-7B19-57EB-97434A66F1ED}"/>
              </a:ext>
            </a:extLst>
          </p:cNvPr>
          <p:cNvSpPr txBox="1"/>
          <p:nvPr/>
        </p:nvSpPr>
        <p:spPr>
          <a:xfrm>
            <a:off x="72008" y="1196752"/>
            <a:ext cx="4670322" cy="14055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spcAft>
                <a:spcPts val="375"/>
              </a:spcAft>
              <a:buFont typeface="Wingdings" panose="05000000000000000000" pitchFamily="2" charset="2"/>
              <a:buChar char="q"/>
            </a:pPr>
            <a:r>
              <a:rPr lang="en-US" b="1" i="0" dirty="0">
                <a:solidFill>
                  <a:srgbClr val="0060A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The Data Challenge</a:t>
            </a:r>
          </a:p>
          <a:p>
            <a:pPr algn="just">
              <a:buNone/>
            </a:pPr>
            <a:r>
              <a:rPr lang="en-US" sz="160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Educational institutions accumulate vast amounts of data (grades, attendance, logs) that remain largely underutilized for strategic decision-making.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6AB8E34-DB16-64BA-F759-3CC27D35ADC3}"/>
              </a:ext>
            </a:extLst>
          </p:cNvPr>
          <p:cNvSpPr txBox="1"/>
          <p:nvPr/>
        </p:nvSpPr>
        <p:spPr>
          <a:xfrm>
            <a:off x="72008" y="2598851"/>
            <a:ext cx="4670322" cy="1159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spcAft>
                <a:spcPts val="375"/>
              </a:spcAft>
              <a:buFont typeface="Wingdings" panose="05000000000000000000" pitchFamily="2" charset="2"/>
              <a:buChar char="q"/>
            </a:pPr>
            <a:r>
              <a:rPr lang="en-US" b="1" i="0" dirty="0">
                <a:solidFill>
                  <a:srgbClr val="0060A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Reactive vs. Proactive</a:t>
            </a:r>
          </a:p>
          <a:p>
            <a:pPr algn="just">
              <a:buNone/>
            </a:pPr>
            <a:r>
              <a:rPr lang="en-US" sz="16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Traditional methods identify struggling students only after failure occurs. There is a critical need for early, data-driven detection.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A3B46FA-E6C5-D5CE-3C56-36D60750D15B}"/>
              </a:ext>
            </a:extLst>
          </p:cNvPr>
          <p:cNvSpPr txBox="1"/>
          <p:nvPr/>
        </p:nvSpPr>
        <p:spPr>
          <a:xfrm>
            <a:off x="54651" y="3834480"/>
            <a:ext cx="4670322" cy="1159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spcAft>
                <a:spcPts val="375"/>
              </a:spcAft>
              <a:buFont typeface="Wingdings" panose="05000000000000000000" pitchFamily="2" charset="2"/>
              <a:buChar char="q"/>
            </a:pPr>
            <a:r>
              <a:rPr lang="en-US" b="1" i="0" dirty="0">
                <a:solidFill>
                  <a:srgbClr val="0060A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The Solution: EDM &amp; ML</a:t>
            </a:r>
          </a:p>
          <a:p>
            <a:pPr algn="just">
              <a:buNone/>
            </a:pPr>
            <a:r>
              <a:rPr lang="en-US" sz="16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Educational Data Mining (EDM) and Machine Learning can analyze complex patterns to predict academic outcomes with high accuracy.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0694680-9CCD-A784-202C-84C938DF1B57}"/>
              </a:ext>
            </a:extLst>
          </p:cNvPr>
          <p:cNvSpPr txBox="1"/>
          <p:nvPr/>
        </p:nvSpPr>
        <p:spPr>
          <a:xfrm>
            <a:off x="72008" y="5070109"/>
            <a:ext cx="4670322" cy="1159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spcAft>
                <a:spcPts val="375"/>
              </a:spcAft>
              <a:buFont typeface="Wingdings" panose="05000000000000000000" pitchFamily="2" charset="2"/>
              <a:buChar char="q"/>
            </a:pPr>
            <a:r>
              <a:rPr lang="en-US" b="1" i="0" dirty="0">
                <a:solidFill>
                  <a:srgbClr val="0060A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Project Goal</a:t>
            </a:r>
          </a:p>
          <a:p>
            <a:pPr algn="l">
              <a:buNone/>
            </a:pPr>
            <a:r>
              <a:rPr lang="en-US" sz="16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Build a predictive system to forecast student grades (A–F) and provide actionable insights for timely teacher </a:t>
            </a:r>
            <a:r>
              <a:rPr lang="en-US" sz="16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intervent</a:t>
            </a:r>
            <a:endParaRPr lang="en-US" sz="1600" b="0" i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37842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/>
      <p:bldP spid="14" grpId="0"/>
      <p:bldP spid="1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79512" y="151593"/>
            <a:ext cx="4543231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Specific Objectives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32FB5A4-DA0F-2F9B-E1F7-AF291DE4DE8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88123" y="1293834"/>
            <a:ext cx="3384377" cy="494248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676E085-0BA8-B913-0D1D-31663478953B}"/>
              </a:ext>
            </a:extLst>
          </p:cNvPr>
          <p:cNvSpPr txBox="1"/>
          <p:nvPr/>
        </p:nvSpPr>
        <p:spPr>
          <a:xfrm>
            <a:off x="101158" y="1109603"/>
            <a:ext cx="4601496" cy="11336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spcAft>
                <a:spcPts val="150"/>
              </a:spcAft>
              <a:buFont typeface="Wingdings" panose="05000000000000000000" pitchFamily="2" charset="2"/>
              <a:buChar char="q"/>
            </a:pPr>
            <a:r>
              <a:rPr lang="en-US" b="1" i="0" dirty="0">
                <a:solidFill>
                  <a:srgbClr val="0060A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Analyze Datasets</a:t>
            </a:r>
          </a:p>
          <a:p>
            <a:pPr algn="just">
              <a:buNone/>
            </a:pPr>
            <a:r>
              <a:rPr lang="en-US" sz="16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Analyze educational datasets using advanced data mining techniques to understand data structure.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8FD0679-5021-DFAE-4C13-A59B5322258B}"/>
              </a:ext>
            </a:extLst>
          </p:cNvPr>
          <p:cNvSpPr txBox="1"/>
          <p:nvPr/>
        </p:nvSpPr>
        <p:spPr>
          <a:xfrm>
            <a:off x="101158" y="2239429"/>
            <a:ext cx="4670322" cy="8874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spcAft>
                <a:spcPts val="150"/>
              </a:spcAft>
              <a:buFont typeface="Wingdings" panose="05000000000000000000" pitchFamily="2" charset="2"/>
              <a:buChar char="q"/>
            </a:pPr>
            <a:r>
              <a:rPr lang="en-US" b="1" i="0" dirty="0">
                <a:solidFill>
                  <a:srgbClr val="0060A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Predict Performance</a:t>
            </a:r>
          </a:p>
          <a:p>
            <a:pPr algn="just">
              <a:buNone/>
            </a:pPr>
            <a:r>
              <a:rPr lang="en-US" sz="16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Predict student academic performance (A–F) using supervised machine learning models.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A9796ED-68E9-9326-5FF9-4E6A70A58055}"/>
              </a:ext>
            </a:extLst>
          </p:cNvPr>
          <p:cNvSpPr txBox="1"/>
          <p:nvPr/>
        </p:nvSpPr>
        <p:spPr>
          <a:xfrm>
            <a:off x="108911" y="3249962"/>
            <a:ext cx="4670322" cy="8874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spcAft>
                <a:spcPts val="150"/>
              </a:spcAft>
              <a:buFont typeface="Wingdings" panose="05000000000000000000" pitchFamily="2" charset="2"/>
              <a:buChar char="q"/>
            </a:pPr>
            <a:r>
              <a:rPr lang="en-IN" b="1" i="0" dirty="0">
                <a:solidFill>
                  <a:srgbClr val="0060A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Compare Algorithms</a:t>
            </a:r>
          </a:p>
          <a:p>
            <a:pPr algn="just">
              <a:buNone/>
            </a:pPr>
            <a:r>
              <a:rPr lang="en-IN" sz="16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Compare multiple classification algorithms (Logistic Regression, Decision Tree, RF, SVM).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E358D91-4299-01A8-8478-1EE8DCA6AFBD}"/>
              </a:ext>
            </a:extLst>
          </p:cNvPr>
          <p:cNvSpPr txBox="1"/>
          <p:nvPr/>
        </p:nvSpPr>
        <p:spPr>
          <a:xfrm>
            <a:off x="101158" y="4207471"/>
            <a:ext cx="4670322" cy="11336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spcAft>
                <a:spcPts val="150"/>
              </a:spcAft>
              <a:buFont typeface="Wingdings" panose="05000000000000000000" pitchFamily="2" charset="2"/>
              <a:buChar char="q"/>
            </a:pPr>
            <a:r>
              <a:rPr lang="en-US" b="1" i="0" dirty="0">
                <a:solidFill>
                  <a:srgbClr val="0060A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Identify Key Factors</a:t>
            </a:r>
          </a:p>
          <a:p>
            <a:pPr algn="just">
              <a:buNone/>
            </a:pPr>
            <a:r>
              <a:rPr lang="en-US" sz="16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Identify critical factors affecting student performance such as attendance and study habits.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3AE6527-ACA8-821B-97C5-923E56688F2D}"/>
              </a:ext>
            </a:extLst>
          </p:cNvPr>
          <p:cNvSpPr txBox="1"/>
          <p:nvPr/>
        </p:nvSpPr>
        <p:spPr>
          <a:xfrm>
            <a:off x="101158" y="5341115"/>
            <a:ext cx="4670322" cy="8874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spcAft>
                <a:spcPts val="150"/>
              </a:spcAft>
              <a:buFont typeface="Wingdings" panose="05000000000000000000" pitchFamily="2" charset="2"/>
              <a:buChar char="q"/>
            </a:pPr>
            <a:r>
              <a:rPr lang="en-US" b="1" i="0" dirty="0">
                <a:solidFill>
                  <a:srgbClr val="0060A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Early Warning System</a:t>
            </a:r>
          </a:p>
          <a:p>
            <a:pPr algn="just">
              <a:buNone/>
            </a:pPr>
            <a:r>
              <a:rPr lang="en-US" sz="16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Provide an automated early warning system to assist educators in timely interventions.</a:t>
            </a:r>
          </a:p>
        </p:txBody>
      </p:sp>
    </p:spTree>
    <p:extLst>
      <p:ext uri="{BB962C8B-B14F-4D97-AF65-F5344CB8AC3E}">
        <p14:creationId xmlns:p14="http://schemas.microsoft.com/office/powerpoint/2010/main" val="10473292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/>
      <p:bldP spid="14" grpId="0"/>
      <p:bldP spid="16" grpId="0" build="allAtOnce"/>
      <p:bldP spid="1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79512" y="151593"/>
            <a:ext cx="4392488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Key Features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7199C54-1051-47B6-80C9-8677EF2AF7B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1520" y="1354574"/>
            <a:ext cx="4188237" cy="478611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4BBABC0-E120-ED32-96AF-17328530615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04244" y="1345180"/>
            <a:ext cx="4332252" cy="4795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74231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79512" y="151593"/>
            <a:ext cx="611738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Project </a:t>
            </a:r>
            <a:r>
              <a:rPr lang="en-US" sz="3200" b="1" kern="100" dirty="0" err="1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Usecases</a:t>
            </a: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&amp; Scope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F350ED3-6FA5-DE36-228C-0ECC1398480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026" y="1206739"/>
            <a:ext cx="4433949" cy="488319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F15A441-CCB9-2B42-A689-E54BF288F09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0" y="1196754"/>
            <a:ext cx="4499992" cy="4893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58122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77133" y="346645"/>
            <a:ext cx="828092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Project Flow diagram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79253F3-7C9B-716F-252C-DC8FFA5CF9B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177643"/>
            <a:ext cx="9144000" cy="4902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33716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03415" y="298973"/>
            <a:ext cx="4392488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 &amp; Resources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1F0F7FF-C781-62B6-B868-5990D35C9AB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7768" y="1154204"/>
            <a:ext cx="4298136" cy="505458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270E106-E488-2BCB-516F-3546AF4BC36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1999" y="1239150"/>
            <a:ext cx="4410745" cy="4973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90688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47" y="0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03415" y="298973"/>
            <a:ext cx="4392488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2B1784E-62D2-2DEB-280F-A728340AD3D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" y="1182720"/>
            <a:ext cx="9224559" cy="5126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98783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03414" y="298973"/>
            <a:ext cx="6844849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Expected Results &amp; Impact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AC56316-8F99-474A-C17A-39851D423BF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22723" y="1171351"/>
            <a:ext cx="3957790" cy="555864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E5EE154-9A31-E24D-58DC-DDF30B929F60}"/>
              </a:ext>
            </a:extLst>
          </p:cNvPr>
          <p:cNvSpPr txBox="1"/>
          <p:nvPr/>
        </p:nvSpPr>
        <p:spPr>
          <a:xfrm>
            <a:off x="151729" y="1171351"/>
            <a:ext cx="4670322" cy="50552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spcAft>
                <a:spcPts val="300"/>
              </a:spcAft>
              <a:buFont typeface="Wingdings" panose="05000000000000000000" pitchFamily="2" charset="2"/>
              <a:buChar char="q"/>
            </a:pPr>
            <a:r>
              <a:rPr lang="en-US" sz="1600" b="1" i="0" dirty="0">
                <a:solidFill>
                  <a:srgbClr val="0060A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Accurate Grade Prediction</a:t>
            </a:r>
          </a:p>
          <a:p>
            <a:pPr algn="just"/>
            <a:r>
              <a:rPr lang="en-US" sz="16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Achieve high classification accuracy in forecasting student grades (A–F), enabling reliable early warning systems for educators.</a:t>
            </a:r>
          </a:p>
          <a:p>
            <a:pPr algn="just"/>
            <a:endParaRPr lang="en-US" sz="1600" b="0" i="0" dirty="0">
              <a:solidFill>
                <a:srgbClr val="4A5568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sz="1600" b="1" dirty="0">
                <a:solidFill>
                  <a:srgbClr val="0060A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Risk Factor Identification</a:t>
            </a:r>
          </a:p>
          <a:p>
            <a:pPr algn="just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Pinpoint specific behavioral and academic factors (e.g., attendance, study habits) that most significantly contribute to performance decline.</a:t>
            </a:r>
          </a:p>
          <a:p>
            <a:pPr algn="just"/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sz="1600" b="1" dirty="0">
                <a:solidFill>
                  <a:srgbClr val="0060A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Proactive Teacher Support</a:t>
            </a:r>
          </a:p>
          <a:p>
            <a:pPr algn="just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Empower teachers with actionable insights to intervene before failure occurs, shifting focus from remediation to prevention.</a:t>
            </a:r>
          </a:p>
          <a:p>
            <a:pPr algn="just"/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sz="1600" b="1" dirty="0">
                <a:solidFill>
                  <a:srgbClr val="0060A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Data-Driven Decisions          </a:t>
            </a:r>
          </a:p>
          <a:p>
            <a:pPr algn="just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Provide school administrators with concrete evidence to optimize resource allocation and improve institutional academic planning.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endParaRPr lang="en-US" sz="1600" b="0" i="0" dirty="0">
              <a:solidFill>
                <a:srgbClr val="4A5568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2604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BD42DB-FF71-D8E6-630F-399C60C536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2FB631E-E469-C80D-C58A-99E545F3785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3B6D9598-AD90-B9CA-8610-998CE22F1C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414" y="298973"/>
            <a:ext cx="6844849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Project Timeline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362D34C-9176-DD2A-8AAF-507BD46BD710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4066F8A4-300F-9AE0-4A5E-2A2D19A8A54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166FAC4-E627-209B-D9A4-20EC84D69C44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8B733FC-B72A-2EAC-E9E5-AE7B2216F78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182721"/>
            <a:ext cx="9144000" cy="5103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95082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80512" cy="6858000"/>
          </a:xfr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1835696" y="2708920"/>
            <a:ext cx="565103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7200" dirty="0">
                <a:solidFill>
                  <a:srgbClr val="0060AA"/>
                </a:solidFill>
                <a:latin typeface="Garamond" pitchFamily="18" charset="0"/>
              </a:rPr>
              <a:t>THANK</a:t>
            </a:r>
            <a:r>
              <a:rPr lang="en-US" sz="7200" dirty="0">
                <a:latin typeface="Garamond" pitchFamily="18" charset="0"/>
              </a:rPr>
              <a:t> </a:t>
            </a:r>
            <a:r>
              <a:rPr lang="en-US" sz="7200" dirty="0">
                <a:solidFill>
                  <a:srgbClr val="E31E24"/>
                </a:solidFill>
                <a:latin typeface="Garamond" pitchFamily="18" charset="0"/>
              </a:rPr>
              <a:t>YOU</a:t>
            </a:r>
            <a:endParaRPr lang="en-IN" sz="7200" dirty="0">
              <a:latin typeface="Garamond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81981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6123</TotalTime>
  <Words>403</Words>
  <Application>Microsoft Office PowerPoint</Application>
  <PresentationFormat>On-screen Show (4:3)</PresentationFormat>
  <Paragraphs>78</Paragraphs>
  <Slides>12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Arial</vt:lpstr>
      <vt:lpstr>Calibri</vt:lpstr>
      <vt:lpstr>Cambria</vt:lpstr>
      <vt:lpstr>Garamond</vt:lpstr>
      <vt:lpstr>Times New Roman</vt:lpstr>
      <vt:lpstr>Verdana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WEBDEV</dc:creator>
  <cp:lastModifiedBy>SAHIL PARASAR</cp:lastModifiedBy>
  <cp:revision>307</cp:revision>
  <cp:lastPrinted>2022-09-05T08:43:44Z</cp:lastPrinted>
  <dcterms:created xsi:type="dcterms:W3CDTF">2020-01-16T09:05:56Z</dcterms:created>
  <dcterms:modified xsi:type="dcterms:W3CDTF">2026-03-10T19:59:48Z</dcterms:modified>
</cp:coreProperties>
</file>